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jXf7/UXHv/heLYHZVOhGB8dg7T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A8CBF88-474B-409E-B006-1E3737C0FF51}">
  <a:tblStyle styleId="{2A8CBF88-474B-409E-B006-1E3737C0FF51}"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DFD"/>
          </a:solidFill>
        </a:fill>
      </a:tcStyle>
    </a:wholeTbl>
    <a:band1H>
      <a:tcTxStyle b="off" i="off"/>
      <a:tcStyle>
        <a:tcBdr/>
        <a:fill>
          <a:solidFill>
            <a:srgbClr val="CDD8FB"/>
          </a:solidFill>
        </a:fill>
      </a:tcStyle>
    </a:band1H>
    <a:band2H>
      <a:tcTxStyle b="off" i="off"/>
      <a:tcStyle>
        <a:tcBdr/>
      </a:tcStyle>
    </a:band2H>
    <a:band1V>
      <a:tcTxStyle b="off" i="off"/>
      <a:tcStyle>
        <a:tcBdr/>
        <a:fill>
          <a:solidFill>
            <a:srgbClr val="CDD8FB"/>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6" d="100"/>
          <a:sy n="146" d="100"/>
        </p:scale>
        <p:origin x="594"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Hi! My name is Virata! In this presentation, I am going to give a short introduction to Sahaja yoga. I will explain about Sahaja Yoga, Kundalini energy, and about Self-Realization.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800"/>
              </a:spcAft>
              <a:buClr>
                <a:schemeClr val="dk1"/>
              </a:buClr>
              <a:buSzPts val="11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c38a5920438753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1c38a59204387535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12"/>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0" name="Google Shape;20;p12"/>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1" name="Google Shape;21;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1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4" name="Google Shape;2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4"/>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4"/>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5"/>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7"/>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8"/>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8"/>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DCECD5"/>
            </a:gs>
            <a:gs pos="100000">
              <a:srgbClr val="92BC81"/>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drive.google.com/open?id=1dFmRkmVTf-KVdxytBaLWX7uIR9HVE_fW"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ahajayoga.org.in" TargetMode="External"/><Relationship Id="rId5" Type="http://schemas.openxmlformats.org/officeDocument/2006/relationships/hyperlink" Target="http://freemeditation.com" TargetMode="External"/><Relationship Id="rId4" Type="http://schemas.openxmlformats.org/officeDocument/2006/relationships/hyperlink" Target="http://sahajayoga.org"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youtube.com/watch?v=zScYiVX_6u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drive.google.com/file/d/1FPS5l3wjXnUhxHYi-mM2fuMwaAuOjxxe/view?usp=drivesdk"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hyperlink" Target="https://drive.google.com/file/d/1hWysase1rEzrdwm5OVxhL8Svd1VOIO5W/view?usp=drivesd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DCECD5"/>
            </a:gs>
            <a:gs pos="100000">
              <a:srgbClr val="92BC81"/>
            </a:gs>
          </a:gsLst>
          <a:path path="circle">
            <a:fillToRect l="50000" t="50000" r="50000" b="50000"/>
          </a:path>
          <a:tileRect/>
        </a:gradFill>
        <a:effectLst/>
      </p:bgPr>
    </p:bg>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168950" y="160772"/>
            <a:ext cx="9533100" cy="822000"/>
          </a:xfrm>
          <a:prstGeom prst="rect">
            <a:avLst/>
          </a:prstGeom>
          <a:noFill/>
          <a:ln>
            <a:noFill/>
          </a:ln>
        </p:spPr>
        <p:txBody>
          <a:bodyPr spcFirstLastPara="1" wrap="square" lIns="91425" tIns="91425" rIns="91425" bIns="91425" anchor="ctr" anchorCtr="0">
            <a:noAutofit/>
          </a:bodyPr>
          <a:lstStyle/>
          <a:p>
            <a:pPr marL="0" lvl="0" indent="0" algn="ctr" rtl="0">
              <a:lnSpc>
                <a:spcPct val="106000"/>
              </a:lnSpc>
              <a:spcBef>
                <a:spcPts val="0"/>
              </a:spcBef>
              <a:spcAft>
                <a:spcPts val="700"/>
              </a:spcAft>
              <a:buClr>
                <a:schemeClr val="dk1"/>
              </a:buClr>
              <a:buSzPts val="1100"/>
              <a:buFont typeface="Arial"/>
              <a:buNone/>
            </a:pPr>
            <a:r>
              <a:rPr lang="en" sz="5000" b="1">
                <a:solidFill>
                  <a:srgbClr val="C00000"/>
                </a:solidFill>
              </a:rPr>
              <a:t>Introduction to Sahaja Yoga</a:t>
            </a:r>
            <a:endParaRPr sz="5000" b="1"/>
          </a:p>
        </p:txBody>
      </p:sp>
      <p:sp>
        <p:nvSpPr>
          <p:cNvPr id="55" name="Google Shape;55;p1"/>
          <p:cNvSpPr txBox="1">
            <a:spLocks noGrp="1"/>
          </p:cNvSpPr>
          <p:nvPr>
            <p:ph type="subTitle" idx="1"/>
          </p:nvPr>
        </p:nvSpPr>
        <p:spPr>
          <a:xfrm>
            <a:off x="0" y="882199"/>
            <a:ext cx="9144000" cy="523200"/>
          </a:xfrm>
          <a:prstGeom prst="rect">
            <a:avLst/>
          </a:prstGeom>
          <a:noFill/>
          <a:ln>
            <a:noFill/>
          </a:ln>
        </p:spPr>
        <p:txBody>
          <a:bodyPr spcFirstLastPara="1" wrap="square" lIns="91425" tIns="91425" rIns="91425" bIns="91425" anchor="ctr" anchorCtr="0">
            <a:noAutofit/>
          </a:bodyPr>
          <a:lstStyle/>
          <a:p>
            <a:pPr marL="0" lvl="0" indent="0" algn="ctr" rtl="0">
              <a:lnSpc>
                <a:spcPct val="106000"/>
              </a:lnSpc>
              <a:spcBef>
                <a:spcPts val="0"/>
              </a:spcBef>
              <a:spcAft>
                <a:spcPts val="700"/>
              </a:spcAft>
              <a:buClr>
                <a:schemeClr val="dk1"/>
              </a:buClr>
              <a:buSzPts val="1100"/>
              <a:buFont typeface="Arial"/>
              <a:buNone/>
            </a:pPr>
            <a:r>
              <a:rPr lang="en" sz="1600" b="1">
                <a:solidFill>
                  <a:srgbClr val="1E4649"/>
                </a:solidFill>
              </a:rPr>
              <a:t>Grade 1, Nirmala Vishwa Vidya  Peetham (Home School)</a:t>
            </a:r>
            <a:endParaRPr sz="1600"/>
          </a:p>
        </p:txBody>
      </p:sp>
      <p:sp>
        <p:nvSpPr>
          <p:cNvPr id="56" name="Google Shape;56;p1"/>
          <p:cNvSpPr txBox="1"/>
          <p:nvPr/>
        </p:nvSpPr>
        <p:spPr>
          <a:xfrm>
            <a:off x="2243975" y="4723500"/>
            <a:ext cx="46293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Arial"/>
                <a:ea typeface="Arial"/>
                <a:cs typeface="Arial"/>
                <a:sym typeface="Arial"/>
              </a:rPr>
              <a:t>Shri Mataji Nirmala Devi - The founder of Sahaja Yoga meditation</a:t>
            </a:r>
            <a:endParaRPr sz="1200" b="0" i="0" u="none" strike="noStrike" cap="none">
              <a:solidFill>
                <a:schemeClr val="dk1"/>
              </a:solidFill>
              <a:latin typeface="Arial"/>
              <a:ea typeface="Arial"/>
              <a:cs typeface="Arial"/>
              <a:sym typeface="Arial"/>
            </a:endParaRPr>
          </a:p>
        </p:txBody>
      </p:sp>
      <p:pic>
        <p:nvPicPr>
          <p:cNvPr id="57" name="Google Shape;57;p1" descr="Centenary Celebrations for the Founder of Sahaja Yoga: Her ..."/>
          <p:cNvPicPr preferRelativeResize="0"/>
          <p:nvPr/>
        </p:nvPicPr>
        <p:blipFill rotWithShape="1">
          <a:blip r:embed="rId3">
            <a:alphaModFix/>
          </a:blip>
          <a:srcRect l="15590" r="17790"/>
          <a:stretch/>
        </p:blipFill>
        <p:spPr>
          <a:xfrm>
            <a:off x="2916936" y="1408176"/>
            <a:ext cx="3318275" cy="3319272"/>
          </a:xfrm>
          <a:prstGeom prst="rect">
            <a:avLst/>
          </a:prstGeom>
          <a:noFill/>
          <a:ln>
            <a:noFill/>
          </a:ln>
        </p:spPr>
      </p:pic>
      <p:pic>
        <p:nvPicPr>
          <p:cNvPr id="58" name="Google Shape;58;p1"/>
          <p:cNvPicPr preferRelativeResize="0"/>
          <p:nvPr/>
        </p:nvPicPr>
        <p:blipFill rotWithShape="1">
          <a:blip r:embed="rId4">
            <a:alphaModFix/>
          </a:blip>
          <a:srcRect l="-76563" t="-76563" r="-76563" b="-76563"/>
          <a:stretch/>
        </p:blipFill>
        <p:spPr>
          <a:xfrm>
            <a:off x="7539228" y="3538728"/>
            <a:ext cx="1543050" cy="1543050"/>
          </a:xfrm>
          <a:prstGeom prst="ellipse">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1"/>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2"/>
          <p:cNvSpPr txBox="1">
            <a:spLocks noGrp="1"/>
          </p:cNvSpPr>
          <p:nvPr>
            <p:ph type="title"/>
          </p:nvPr>
        </p:nvSpPr>
        <p:spPr>
          <a:xfrm>
            <a:off x="0" y="0"/>
            <a:ext cx="9144000" cy="572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 sz="3200" b="1" u="sng">
                <a:solidFill>
                  <a:srgbClr val="993F0D"/>
                </a:solidFill>
              </a:rPr>
              <a:t>What is Sahaja Yoga?</a:t>
            </a:r>
            <a:endParaRPr sz="3200"/>
          </a:p>
        </p:txBody>
      </p:sp>
      <p:sp>
        <p:nvSpPr>
          <p:cNvPr id="64" name="Google Shape;64;p2"/>
          <p:cNvSpPr txBox="1">
            <a:spLocks noGrp="1"/>
          </p:cNvSpPr>
          <p:nvPr>
            <p:ph type="body" idx="1"/>
          </p:nvPr>
        </p:nvSpPr>
        <p:spPr>
          <a:xfrm>
            <a:off x="26100" y="-1090510"/>
            <a:ext cx="9091800" cy="6377400"/>
          </a:xfrm>
          <a:prstGeom prst="rect">
            <a:avLst/>
          </a:prstGeom>
          <a:noFill/>
          <a:ln>
            <a:noFill/>
          </a:ln>
        </p:spPr>
        <p:txBody>
          <a:bodyPr spcFirstLastPara="1" wrap="square" lIns="91425" tIns="91425" rIns="91425" bIns="91425" anchor="ctr" anchorCtr="0">
            <a:noAutofit/>
          </a:bodyPr>
          <a:lstStyle/>
          <a:p>
            <a:pPr marL="457200" lvl="0" indent="-330200" algn="just" rtl="0">
              <a:lnSpc>
                <a:spcPct val="115000"/>
              </a:lnSpc>
              <a:spcBef>
                <a:spcPts val="0"/>
              </a:spcBef>
              <a:spcAft>
                <a:spcPts val="0"/>
              </a:spcAft>
              <a:buClr>
                <a:schemeClr val="dk1"/>
              </a:buClr>
              <a:buSzPts val="1600"/>
              <a:buChar char="●"/>
            </a:pPr>
            <a:r>
              <a:rPr lang="en" sz="1600">
                <a:solidFill>
                  <a:schemeClr val="dk1"/>
                </a:solidFill>
              </a:rPr>
              <a:t>In the words Sahaja Yoga, ‘Saha’ means ‘with’, ‘Ja’ means ‘born’, and ‘Yoga’ means union or connection with the universal energy or God or Mother Nature. </a:t>
            </a:r>
            <a:endParaRPr sz="1600"/>
          </a:p>
          <a:p>
            <a:pPr marL="457200" lvl="0" indent="-330200" algn="just" rtl="0">
              <a:lnSpc>
                <a:spcPct val="115000"/>
              </a:lnSpc>
              <a:spcBef>
                <a:spcPts val="0"/>
              </a:spcBef>
              <a:spcAft>
                <a:spcPts val="0"/>
              </a:spcAft>
              <a:buClr>
                <a:schemeClr val="dk1"/>
              </a:buClr>
              <a:buSzPts val="1600"/>
              <a:buChar char="●"/>
            </a:pPr>
            <a:r>
              <a:rPr lang="en" sz="1600">
                <a:solidFill>
                  <a:schemeClr val="dk1"/>
                </a:solidFill>
              </a:rPr>
              <a:t>Sahaja yoga helps us easily awaken our inner energy called Kundalini to achieve this union and physically feel it as a cool breeze through a process called self-realization. </a:t>
            </a:r>
            <a:endParaRPr sz="1600"/>
          </a:p>
          <a:p>
            <a:pPr marL="457200" lvl="0" indent="-330200" algn="just" rtl="0">
              <a:lnSpc>
                <a:spcPct val="115000"/>
              </a:lnSpc>
              <a:spcBef>
                <a:spcPts val="0"/>
              </a:spcBef>
              <a:spcAft>
                <a:spcPts val="0"/>
              </a:spcAft>
              <a:buClr>
                <a:schemeClr val="dk1"/>
              </a:buClr>
              <a:buSzPts val="1600"/>
              <a:buChar char="●"/>
            </a:pPr>
            <a:r>
              <a:rPr lang="en" sz="1600">
                <a:solidFill>
                  <a:schemeClr val="dk1"/>
                </a:solidFill>
              </a:rPr>
              <a:t>It is very simple and anybody can feel this experience. </a:t>
            </a:r>
            <a:endParaRPr sz="1600"/>
          </a:p>
          <a:p>
            <a:pPr marL="457200" lvl="0" indent="-330200" algn="just" rtl="0">
              <a:lnSpc>
                <a:spcPct val="115000"/>
              </a:lnSpc>
              <a:spcBef>
                <a:spcPts val="0"/>
              </a:spcBef>
              <a:spcAft>
                <a:spcPts val="0"/>
              </a:spcAft>
              <a:buClr>
                <a:schemeClr val="dk1"/>
              </a:buClr>
              <a:buSzPts val="1600"/>
              <a:buChar char="●"/>
            </a:pPr>
            <a:r>
              <a:rPr lang="en" sz="1600">
                <a:solidFill>
                  <a:schemeClr val="dk1"/>
                </a:solidFill>
              </a:rPr>
              <a:t>Sahaja yoga is always free and is practiced in several countries around the world. </a:t>
            </a:r>
            <a:endParaRPr sz="1600"/>
          </a:p>
          <a:p>
            <a:pPr marL="457200" lvl="0" indent="-330200" algn="just" rtl="0">
              <a:lnSpc>
                <a:spcPct val="115000"/>
              </a:lnSpc>
              <a:spcBef>
                <a:spcPts val="0"/>
              </a:spcBef>
              <a:spcAft>
                <a:spcPts val="0"/>
              </a:spcAft>
              <a:buClr>
                <a:schemeClr val="dk1"/>
              </a:buClr>
              <a:buSzPts val="1600"/>
              <a:buChar char="●"/>
            </a:pPr>
            <a:r>
              <a:rPr lang="en" sz="1600">
                <a:solidFill>
                  <a:schemeClr val="dk1"/>
                </a:solidFill>
              </a:rPr>
              <a:t>Shri Mataji Nirmala Devi is the founder of “Sahaja Yoga” meditation and has given this gift to humanity. </a:t>
            </a:r>
            <a:endParaRPr sz="1600">
              <a:solidFill>
                <a:schemeClr val="dk1"/>
              </a:solidFill>
            </a:endParaRPr>
          </a:p>
          <a:p>
            <a:pPr marL="457200" lvl="0" indent="-330200" algn="just" rtl="0">
              <a:lnSpc>
                <a:spcPct val="115000"/>
              </a:lnSpc>
              <a:spcBef>
                <a:spcPts val="0"/>
              </a:spcBef>
              <a:spcAft>
                <a:spcPts val="0"/>
              </a:spcAft>
              <a:buClr>
                <a:schemeClr val="dk1"/>
              </a:buClr>
              <a:buSzPts val="1600"/>
              <a:buChar char="●"/>
            </a:pPr>
            <a:r>
              <a:rPr lang="en" sz="1600">
                <a:solidFill>
                  <a:schemeClr val="dk1"/>
                </a:solidFill>
              </a:rPr>
              <a:t>By practicing “Sahaja Yoga” meditation, we can always be joyful and peaceful, and achieve the highest state of human life. </a:t>
            </a:r>
            <a:endParaRPr sz="1600">
              <a:solidFill>
                <a:schemeClr val="dk1"/>
              </a:solidFill>
            </a:endParaRPr>
          </a:p>
        </p:txBody>
      </p:sp>
      <p:sp>
        <p:nvSpPr>
          <p:cNvPr id="65" name="Google Shape;65;p2"/>
          <p:cNvSpPr txBox="1"/>
          <p:nvPr/>
        </p:nvSpPr>
        <p:spPr>
          <a:xfrm>
            <a:off x="0" y="4723600"/>
            <a:ext cx="9144000" cy="4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Arial"/>
                <a:ea typeface="Arial"/>
                <a:cs typeface="Arial"/>
                <a:sym typeface="Arial"/>
              </a:rPr>
              <a:t>Shri Mataji Nirmala Devi - the founder of Sahaja Yoga meditation</a:t>
            </a:r>
            <a:endParaRPr sz="1200" b="0" i="0" u="none" strike="noStrike" cap="none">
              <a:solidFill>
                <a:schemeClr val="dk2"/>
              </a:solidFill>
              <a:latin typeface="Arial"/>
              <a:ea typeface="Arial"/>
              <a:cs typeface="Arial"/>
              <a:sym typeface="Arial"/>
            </a:endParaRPr>
          </a:p>
        </p:txBody>
      </p:sp>
      <p:pic>
        <p:nvPicPr>
          <p:cNvPr id="66" name="Google Shape;66;p2" descr="Centenary Celebrations for the Founder of Sahaja Yoga: Her ..."/>
          <p:cNvPicPr preferRelativeResize="0"/>
          <p:nvPr/>
        </p:nvPicPr>
        <p:blipFill rotWithShape="1">
          <a:blip r:embed="rId3">
            <a:alphaModFix/>
          </a:blip>
          <a:srcRect l="15590" r="17790"/>
          <a:stretch/>
        </p:blipFill>
        <p:spPr>
          <a:xfrm>
            <a:off x="3803905" y="3297378"/>
            <a:ext cx="1462601" cy="146304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20"/>
          <p:cNvSpPr txBox="1">
            <a:spLocks noGrp="1"/>
          </p:cNvSpPr>
          <p:nvPr>
            <p:ph type="title"/>
          </p:nvPr>
        </p:nvSpPr>
        <p:spPr>
          <a:xfrm>
            <a:off x="0" y="0"/>
            <a:ext cx="91440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86419"/>
              <a:buNone/>
            </a:pPr>
            <a:r>
              <a:rPr lang="en" sz="3600" b="1" u="sng">
                <a:solidFill>
                  <a:srgbClr val="993F0D"/>
                </a:solidFill>
              </a:rPr>
              <a:t>Chakras and Channels</a:t>
            </a:r>
            <a:endParaRPr b="1" u="sng"/>
          </a:p>
          <a:p>
            <a:pPr marL="0" lvl="0" indent="0" algn="l" rtl="0">
              <a:lnSpc>
                <a:spcPct val="100000"/>
              </a:lnSpc>
              <a:spcBef>
                <a:spcPts val="0"/>
              </a:spcBef>
              <a:spcAft>
                <a:spcPts val="0"/>
              </a:spcAft>
              <a:buSzPct val="111111"/>
              <a:buNone/>
            </a:pPr>
            <a:endParaRPr/>
          </a:p>
        </p:txBody>
      </p:sp>
      <p:sp>
        <p:nvSpPr>
          <p:cNvPr id="72" name="Google Shape;72;p20"/>
          <p:cNvSpPr txBox="1">
            <a:spLocks noGrp="1"/>
          </p:cNvSpPr>
          <p:nvPr>
            <p:ph type="body" idx="1"/>
          </p:nvPr>
        </p:nvSpPr>
        <p:spPr>
          <a:xfrm>
            <a:off x="219457" y="621899"/>
            <a:ext cx="4471814" cy="4443081"/>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600" b="1" u="sng">
                <a:solidFill>
                  <a:schemeClr val="dk1"/>
                </a:solidFill>
              </a:rPr>
              <a:t>Chakras:</a:t>
            </a:r>
            <a:r>
              <a:rPr lang="en" sz="1600" b="1">
                <a:solidFill>
                  <a:schemeClr val="dk1"/>
                </a:solidFill>
              </a:rPr>
              <a:t> </a:t>
            </a:r>
            <a:endParaRPr/>
          </a:p>
          <a:p>
            <a:pPr marL="285750" lvl="0" indent="-285750" algn="l" rtl="0">
              <a:lnSpc>
                <a:spcPct val="115000"/>
              </a:lnSpc>
              <a:spcBef>
                <a:spcPts val="0"/>
              </a:spcBef>
              <a:spcAft>
                <a:spcPts val="0"/>
              </a:spcAft>
              <a:buClr>
                <a:schemeClr val="dk1"/>
              </a:buClr>
              <a:buSzPts val="1800"/>
              <a:buChar char="●"/>
            </a:pPr>
            <a:r>
              <a:rPr lang="en" sz="1600">
                <a:solidFill>
                  <a:schemeClr val="dk1"/>
                </a:solidFill>
              </a:rPr>
              <a:t>Chakras are like energy centers located near different parts of our spinal cord, and control our physical and mental states. </a:t>
            </a:r>
            <a:endParaRPr/>
          </a:p>
          <a:p>
            <a:pPr marL="285750" lvl="0" indent="-285750" algn="l" rtl="0">
              <a:lnSpc>
                <a:spcPct val="115000"/>
              </a:lnSpc>
              <a:spcBef>
                <a:spcPts val="0"/>
              </a:spcBef>
              <a:spcAft>
                <a:spcPts val="0"/>
              </a:spcAft>
              <a:buClr>
                <a:schemeClr val="dk1"/>
              </a:buClr>
              <a:buSzPts val="1800"/>
              <a:buChar char="●"/>
            </a:pPr>
            <a:r>
              <a:rPr lang="en" sz="1600">
                <a:solidFill>
                  <a:schemeClr val="dk1"/>
                </a:solidFill>
              </a:rPr>
              <a:t>There are seven chakras in our body:</a:t>
            </a:r>
            <a:endParaRPr/>
          </a:p>
          <a:p>
            <a:pPr marL="742950" lvl="1" indent="-285750" algn="l" rtl="0">
              <a:lnSpc>
                <a:spcPct val="115000"/>
              </a:lnSpc>
              <a:spcBef>
                <a:spcPts val="0"/>
              </a:spcBef>
              <a:spcAft>
                <a:spcPts val="0"/>
              </a:spcAft>
              <a:buClr>
                <a:schemeClr val="dk1"/>
              </a:buClr>
              <a:buSzPts val="1400"/>
              <a:buChar char="○"/>
            </a:pPr>
            <a:r>
              <a:rPr lang="en" sz="1600">
                <a:solidFill>
                  <a:schemeClr val="dk1"/>
                </a:solidFill>
              </a:rPr>
              <a:t>Mooladhara, Swadhisthana, Nabhi (Void), Anahata, Vishuddhi, Agnya, and Sahastrara. </a:t>
            </a:r>
            <a:endParaRPr/>
          </a:p>
          <a:p>
            <a:pPr marL="285750" lvl="0" indent="-285750" algn="l" rtl="0">
              <a:lnSpc>
                <a:spcPct val="115000"/>
              </a:lnSpc>
              <a:spcBef>
                <a:spcPts val="0"/>
              </a:spcBef>
              <a:spcAft>
                <a:spcPts val="0"/>
              </a:spcAft>
              <a:buClr>
                <a:schemeClr val="dk1"/>
              </a:buClr>
              <a:buSzPts val="1800"/>
              <a:buChar char="●"/>
            </a:pPr>
            <a:r>
              <a:rPr lang="en" sz="1600">
                <a:solidFill>
                  <a:schemeClr val="dk1"/>
                </a:solidFill>
              </a:rPr>
              <a:t>Each chakra helps maintain different emotional and mental qualities. It also takes care of physical organs around it.</a:t>
            </a:r>
            <a:endParaRPr/>
          </a:p>
          <a:p>
            <a:pPr marL="285750" lvl="0" indent="-285750" algn="l" rtl="0">
              <a:lnSpc>
                <a:spcPct val="115000"/>
              </a:lnSpc>
              <a:spcBef>
                <a:spcPts val="0"/>
              </a:spcBef>
              <a:spcAft>
                <a:spcPts val="0"/>
              </a:spcAft>
              <a:buClr>
                <a:schemeClr val="dk1"/>
              </a:buClr>
              <a:buSzPts val="1800"/>
              <a:buChar char="●"/>
            </a:pPr>
            <a:r>
              <a:rPr lang="en" sz="1600">
                <a:solidFill>
                  <a:schemeClr val="dk1"/>
                </a:solidFill>
              </a:rPr>
              <a:t>When our chakras are in balance, we will be healthy physically and mentally. </a:t>
            </a:r>
            <a:endParaRPr/>
          </a:p>
          <a:p>
            <a:pPr marL="285750" lvl="0" indent="-285750" algn="l" rtl="0">
              <a:lnSpc>
                <a:spcPct val="115000"/>
              </a:lnSpc>
              <a:spcBef>
                <a:spcPts val="0"/>
              </a:spcBef>
              <a:spcAft>
                <a:spcPts val="0"/>
              </a:spcAft>
              <a:buClr>
                <a:schemeClr val="dk1"/>
              </a:buClr>
              <a:buSzPts val="1800"/>
              <a:buChar char="●"/>
            </a:pPr>
            <a:r>
              <a:rPr lang="en" sz="1600">
                <a:solidFill>
                  <a:schemeClr val="dk1"/>
                </a:solidFill>
              </a:rPr>
              <a:t>Sahaja Yoga guides us on how to take care of our seven chakras. </a:t>
            </a:r>
            <a:endParaRPr/>
          </a:p>
          <a:p>
            <a:pPr marL="285750" lvl="0" indent="-171450" algn="l" rtl="0">
              <a:lnSpc>
                <a:spcPct val="115000"/>
              </a:lnSpc>
              <a:spcBef>
                <a:spcPts val="0"/>
              </a:spcBef>
              <a:spcAft>
                <a:spcPts val="0"/>
              </a:spcAft>
              <a:buClr>
                <a:schemeClr val="dk1"/>
              </a:buClr>
              <a:buSzPts val="1800"/>
              <a:buNone/>
            </a:pPr>
            <a:endParaRPr sz="1600"/>
          </a:p>
        </p:txBody>
      </p:sp>
      <p:pic>
        <p:nvPicPr>
          <p:cNvPr id="73" name="Google Shape;73;p20" descr="Image"/>
          <p:cNvPicPr preferRelativeResize="0"/>
          <p:nvPr/>
        </p:nvPicPr>
        <p:blipFill rotWithShape="1">
          <a:blip r:embed="rId3">
            <a:alphaModFix/>
          </a:blip>
          <a:srcRect/>
          <a:stretch/>
        </p:blipFill>
        <p:spPr>
          <a:xfrm>
            <a:off x="4691271" y="1231460"/>
            <a:ext cx="4444040" cy="292698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21"/>
          <p:cNvSpPr txBox="1">
            <a:spLocks noGrp="1"/>
          </p:cNvSpPr>
          <p:nvPr>
            <p:ph type="title"/>
          </p:nvPr>
        </p:nvSpPr>
        <p:spPr>
          <a:xfrm>
            <a:off x="0" y="0"/>
            <a:ext cx="91440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86419"/>
              <a:buNone/>
            </a:pPr>
            <a:r>
              <a:rPr lang="en" sz="3600" b="1" u="sng">
                <a:solidFill>
                  <a:srgbClr val="993F0D"/>
                </a:solidFill>
              </a:rPr>
              <a:t>Chakras and Channels</a:t>
            </a:r>
            <a:endParaRPr b="1" u="sng"/>
          </a:p>
          <a:p>
            <a:pPr marL="0" lvl="0" indent="0" algn="l" rtl="0">
              <a:lnSpc>
                <a:spcPct val="100000"/>
              </a:lnSpc>
              <a:spcBef>
                <a:spcPts val="0"/>
              </a:spcBef>
              <a:spcAft>
                <a:spcPts val="0"/>
              </a:spcAft>
              <a:buSzPct val="111111"/>
              <a:buNone/>
            </a:pPr>
            <a:endParaRPr/>
          </a:p>
        </p:txBody>
      </p:sp>
      <p:sp>
        <p:nvSpPr>
          <p:cNvPr id="79" name="Google Shape;79;p21"/>
          <p:cNvSpPr txBox="1">
            <a:spLocks noGrp="1"/>
          </p:cNvSpPr>
          <p:nvPr>
            <p:ph type="body" idx="1"/>
          </p:nvPr>
        </p:nvSpPr>
        <p:spPr>
          <a:xfrm>
            <a:off x="219456" y="621899"/>
            <a:ext cx="8646248" cy="4443081"/>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600" b="1" u="sng">
                <a:solidFill>
                  <a:schemeClr val="dk1"/>
                </a:solidFill>
              </a:rPr>
              <a:t>Channels:</a:t>
            </a:r>
            <a:r>
              <a:rPr lang="en" sz="1600" b="1">
                <a:solidFill>
                  <a:schemeClr val="dk1"/>
                </a:solidFill>
              </a:rPr>
              <a:t> </a:t>
            </a:r>
            <a:endParaRPr/>
          </a:p>
          <a:p>
            <a:pPr marL="285750" lvl="0" indent="-285750" algn="l" rtl="0">
              <a:lnSpc>
                <a:spcPct val="115000"/>
              </a:lnSpc>
              <a:spcBef>
                <a:spcPts val="0"/>
              </a:spcBef>
              <a:spcAft>
                <a:spcPts val="0"/>
              </a:spcAft>
              <a:buClr>
                <a:schemeClr val="dk1"/>
              </a:buClr>
              <a:buSzPts val="1800"/>
              <a:buChar char="●"/>
            </a:pPr>
            <a:r>
              <a:rPr lang="en" sz="1600">
                <a:solidFill>
                  <a:schemeClr val="dk1"/>
                </a:solidFill>
              </a:rPr>
              <a:t>There are 3 Channels within us which control our past, present and future activities.    </a:t>
            </a:r>
            <a:endParaRPr/>
          </a:p>
          <a:p>
            <a:pPr marL="742950" lvl="1" indent="-285750" algn="l" rtl="0">
              <a:lnSpc>
                <a:spcPct val="115000"/>
              </a:lnSpc>
              <a:spcBef>
                <a:spcPts val="0"/>
              </a:spcBef>
              <a:spcAft>
                <a:spcPts val="0"/>
              </a:spcAft>
              <a:buClr>
                <a:schemeClr val="dk1"/>
              </a:buClr>
              <a:buSzPts val="1400"/>
              <a:buChar char="○"/>
            </a:pPr>
            <a:r>
              <a:rPr lang="en" sz="1600">
                <a:solidFill>
                  <a:schemeClr val="dk1"/>
                </a:solidFill>
              </a:rPr>
              <a:t>Left channel or Moon channel (Past) – Takes care of our desires, emotions and feelings.  </a:t>
            </a:r>
            <a:endParaRPr/>
          </a:p>
          <a:p>
            <a:pPr marL="742950" lvl="1" indent="-285750" algn="l" rtl="0">
              <a:lnSpc>
                <a:spcPct val="115000"/>
              </a:lnSpc>
              <a:spcBef>
                <a:spcPts val="0"/>
              </a:spcBef>
              <a:spcAft>
                <a:spcPts val="0"/>
              </a:spcAft>
              <a:buClr>
                <a:schemeClr val="dk1"/>
              </a:buClr>
              <a:buSzPts val="1400"/>
              <a:buChar char="○"/>
            </a:pPr>
            <a:r>
              <a:rPr lang="en" sz="1600">
                <a:solidFill>
                  <a:schemeClr val="dk1"/>
                </a:solidFill>
              </a:rPr>
              <a:t>Right channel or Sun channel (Future) – Takes care of our planning, physical and mental activities.   </a:t>
            </a:r>
            <a:endParaRPr/>
          </a:p>
          <a:p>
            <a:pPr marL="742950" lvl="1" indent="-285750" algn="l" rtl="0">
              <a:lnSpc>
                <a:spcPct val="115000"/>
              </a:lnSpc>
              <a:spcBef>
                <a:spcPts val="0"/>
              </a:spcBef>
              <a:spcAft>
                <a:spcPts val="0"/>
              </a:spcAft>
              <a:buClr>
                <a:schemeClr val="dk1"/>
              </a:buClr>
              <a:buSzPts val="1400"/>
              <a:buChar char="○"/>
            </a:pPr>
            <a:r>
              <a:rPr lang="en" sz="1600">
                <a:solidFill>
                  <a:schemeClr val="dk1"/>
                </a:solidFill>
              </a:rPr>
              <a:t>Center Channel (Present) – Takes care of our spiritual growth and maintaining balance. </a:t>
            </a:r>
            <a:endParaRPr sz="1600"/>
          </a:p>
        </p:txBody>
      </p:sp>
      <p:pic>
        <p:nvPicPr>
          <p:cNvPr id="80" name="Google Shape;80;p21" descr="Image"/>
          <p:cNvPicPr preferRelativeResize="0"/>
          <p:nvPr/>
        </p:nvPicPr>
        <p:blipFill rotWithShape="1">
          <a:blip r:embed="rId3">
            <a:alphaModFix/>
          </a:blip>
          <a:srcRect/>
          <a:stretch/>
        </p:blipFill>
        <p:spPr>
          <a:xfrm>
            <a:off x="2677705" y="2822798"/>
            <a:ext cx="3524312" cy="232122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22"/>
          <p:cNvSpPr txBox="1">
            <a:spLocks noGrp="1"/>
          </p:cNvSpPr>
          <p:nvPr>
            <p:ph type="title"/>
          </p:nvPr>
        </p:nvSpPr>
        <p:spPr>
          <a:xfrm>
            <a:off x="0" y="0"/>
            <a:ext cx="91440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86419"/>
              <a:buNone/>
            </a:pPr>
            <a:r>
              <a:rPr lang="en" sz="3600" b="1" u="sng">
                <a:solidFill>
                  <a:srgbClr val="993F0D"/>
                </a:solidFill>
              </a:rPr>
              <a:t>Self-Realization </a:t>
            </a:r>
            <a:endParaRPr/>
          </a:p>
        </p:txBody>
      </p:sp>
      <p:sp>
        <p:nvSpPr>
          <p:cNvPr id="86" name="Google Shape;86;p22"/>
          <p:cNvSpPr txBox="1">
            <a:spLocks noGrp="1"/>
          </p:cNvSpPr>
          <p:nvPr>
            <p:ph type="body" idx="1"/>
          </p:nvPr>
        </p:nvSpPr>
        <p:spPr>
          <a:xfrm>
            <a:off x="219456" y="613716"/>
            <a:ext cx="4846581" cy="314457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600" b="1" u="sng" dirty="0">
                <a:solidFill>
                  <a:schemeClr val="dk1"/>
                </a:solidFill>
              </a:rPr>
              <a:t>Kundalini energy:</a:t>
            </a:r>
            <a:endParaRPr sz="1600" b="1" u="sng" dirty="0">
              <a:solidFill>
                <a:schemeClr val="dk1"/>
              </a:solidFill>
            </a:endParaRPr>
          </a:p>
          <a:p>
            <a:pPr marL="285750" lvl="0" indent="-285750" algn="l" rtl="0">
              <a:lnSpc>
                <a:spcPct val="115000"/>
              </a:lnSpc>
              <a:spcBef>
                <a:spcPts val="0"/>
              </a:spcBef>
              <a:spcAft>
                <a:spcPts val="0"/>
              </a:spcAft>
              <a:buClr>
                <a:schemeClr val="dk1"/>
              </a:buClr>
              <a:buSzPts val="1800"/>
              <a:buChar char="●"/>
            </a:pPr>
            <a:r>
              <a:rPr lang="en" sz="1600" dirty="0">
                <a:solidFill>
                  <a:schemeClr val="dk1"/>
                </a:solidFill>
              </a:rPr>
              <a:t>Kundalini energy is motherly energy inside us. </a:t>
            </a:r>
            <a:endParaRPr dirty="0"/>
          </a:p>
          <a:p>
            <a:pPr marL="285750" lvl="0" indent="-285750" algn="l" rtl="0">
              <a:lnSpc>
                <a:spcPct val="115000"/>
              </a:lnSpc>
              <a:spcBef>
                <a:spcPts val="0"/>
              </a:spcBef>
              <a:spcAft>
                <a:spcPts val="0"/>
              </a:spcAft>
              <a:buClr>
                <a:schemeClr val="dk1"/>
              </a:buClr>
              <a:buSzPts val="1800"/>
              <a:buChar char="●"/>
            </a:pPr>
            <a:r>
              <a:rPr lang="en" sz="1600" dirty="0">
                <a:solidFill>
                  <a:schemeClr val="dk1"/>
                </a:solidFill>
              </a:rPr>
              <a:t>It is at the bottom of the spinal cord in a triangular bone called sacrum bone.</a:t>
            </a:r>
            <a:endParaRPr dirty="0"/>
          </a:p>
          <a:p>
            <a:pPr marL="285750" lvl="0" indent="-285750" algn="l" rtl="0">
              <a:lnSpc>
                <a:spcPct val="115000"/>
              </a:lnSpc>
              <a:spcBef>
                <a:spcPts val="0"/>
              </a:spcBef>
              <a:spcAft>
                <a:spcPts val="0"/>
              </a:spcAft>
              <a:buClr>
                <a:schemeClr val="dk1"/>
              </a:buClr>
              <a:buSzPts val="1800"/>
              <a:buChar char="●"/>
            </a:pPr>
            <a:r>
              <a:rPr lang="en" sz="1600" dirty="0">
                <a:solidFill>
                  <a:schemeClr val="dk1"/>
                </a:solidFill>
              </a:rPr>
              <a:t>It stays in a dormant state.</a:t>
            </a:r>
            <a:endParaRPr dirty="0"/>
          </a:p>
        </p:txBody>
      </p:sp>
      <p:pic>
        <p:nvPicPr>
          <p:cNvPr id="87" name="Google Shape;87;p22" descr="Image"/>
          <p:cNvPicPr preferRelativeResize="0"/>
          <p:nvPr/>
        </p:nvPicPr>
        <p:blipFill rotWithShape="1">
          <a:blip r:embed="rId3">
            <a:alphaModFix/>
          </a:blip>
          <a:srcRect l="29568" r="31008" b="29729"/>
          <a:stretch/>
        </p:blipFill>
        <p:spPr>
          <a:xfrm>
            <a:off x="5558163" y="814682"/>
            <a:ext cx="3465254" cy="4088912"/>
          </a:xfrm>
          <a:prstGeom prst="rect">
            <a:avLst/>
          </a:prstGeom>
          <a:noFill/>
          <a:ln>
            <a:noFill/>
          </a:ln>
        </p:spPr>
      </p:pic>
      <p:sp>
        <p:nvSpPr>
          <p:cNvPr id="88" name="Google Shape;88;p22"/>
          <p:cNvSpPr txBox="1"/>
          <p:nvPr/>
        </p:nvSpPr>
        <p:spPr>
          <a:xfrm>
            <a:off x="219456" y="2425301"/>
            <a:ext cx="5368851" cy="3089987"/>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 sz="1600" b="1" i="0" u="sng" strike="noStrike" cap="none" dirty="0">
                <a:solidFill>
                  <a:schemeClr val="dk1"/>
                </a:solidFill>
                <a:latin typeface="Arial"/>
                <a:ea typeface="Arial"/>
                <a:cs typeface="Arial"/>
                <a:sym typeface="Arial"/>
              </a:rPr>
              <a:t>Self-Realization:</a:t>
            </a:r>
            <a:endParaRPr sz="1600" b="1" i="0" u="none" strike="noStrike" cap="none" dirty="0">
              <a:solidFill>
                <a:schemeClr val="dk1"/>
              </a:solidFill>
              <a:latin typeface="Arial"/>
              <a:ea typeface="Arial"/>
              <a:cs typeface="Arial"/>
              <a:sym typeface="Arial"/>
            </a:endParaRPr>
          </a:p>
          <a:p>
            <a:pPr marL="285750" marR="0" lvl="0" indent="-285750" algn="l" rtl="0">
              <a:lnSpc>
                <a:spcPct val="115000"/>
              </a:lnSpc>
              <a:spcBef>
                <a:spcPts val="0"/>
              </a:spcBef>
              <a:spcAft>
                <a:spcPts val="0"/>
              </a:spcAft>
              <a:buClr>
                <a:schemeClr val="dk1"/>
              </a:buClr>
              <a:buSzPts val="1800"/>
              <a:buFont typeface="Arial"/>
              <a:buChar char="●"/>
            </a:pPr>
            <a:r>
              <a:rPr lang="en" sz="1600" b="0" i="0" u="none" strike="noStrike" cap="none" dirty="0">
                <a:solidFill>
                  <a:schemeClr val="dk1"/>
                </a:solidFill>
                <a:latin typeface="Arial"/>
                <a:ea typeface="Arial"/>
                <a:cs typeface="Arial"/>
                <a:sym typeface="Arial"/>
              </a:rPr>
              <a:t>When our Kundalini energy rises, and passes through all the chakras, and reaches the chakra on top of our head, and gets connected with the divine energy around us, this is called Self-Realization.</a:t>
            </a:r>
            <a:endParaRPr sz="1400" b="0" i="0" u="none" strike="noStrike" cap="none" dirty="0">
              <a:solidFill>
                <a:srgbClr val="000000"/>
              </a:solidFill>
              <a:latin typeface="Arial"/>
              <a:ea typeface="Arial"/>
              <a:cs typeface="Arial"/>
              <a:sym typeface="Arial"/>
            </a:endParaRPr>
          </a:p>
          <a:p>
            <a:pPr marL="285750" marR="0" lvl="0" indent="-285750" algn="l" rtl="0">
              <a:lnSpc>
                <a:spcPct val="115000"/>
              </a:lnSpc>
              <a:spcBef>
                <a:spcPts val="0"/>
              </a:spcBef>
              <a:spcAft>
                <a:spcPts val="0"/>
              </a:spcAft>
              <a:buClr>
                <a:schemeClr val="dk1"/>
              </a:buClr>
              <a:buSzPts val="1800"/>
              <a:buFont typeface="Arial"/>
              <a:buChar char="●"/>
            </a:pPr>
            <a:r>
              <a:rPr lang="en" sz="1600" b="0" i="0" u="none" strike="noStrike" cap="none" dirty="0">
                <a:solidFill>
                  <a:schemeClr val="dk1"/>
                </a:solidFill>
                <a:latin typeface="Arial"/>
                <a:ea typeface="Arial"/>
                <a:cs typeface="Arial"/>
                <a:sym typeface="Arial"/>
              </a:rPr>
              <a:t>We can feel this in our hands, and on top of our head as a cool breeze.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4"/>
          <p:cNvSpPr txBox="1">
            <a:spLocks noGrp="1"/>
          </p:cNvSpPr>
          <p:nvPr>
            <p:ph type="title"/>
          </p:nvPr>
        </p:nvSpPr>
        <p:spPr>
          <a:xfrm>
            <a:off x="0" y="2503"/>
            <a:ext cx="91440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86419"/>
              <a:buNone/>
            </a:pPr>
            <a:r>
              <a:rPr lang="en" sz="3600" b="1" u="sng">
                <a:solidFill>
                  <a:srgbClr val="993F0D"/>
                </a:solidFill>
              </a:rPr>
              <a:t>Benefits </a:t>
            </a:r>
            <a:endParaRPr u="sng"/>
          </a:p>
        </p:txBody>
      </p:sp>
      <p:sp>
        <p:nvSpPr>
          <p:cNvPr id="94" name="Google Shape;94;p4"/>
          <p:cNvSpPr txBox="1">
            <a:spLocks noGrp="1"/>
          </p:cNvSpPr>
          <p:nvPr>
            <p:ph type="body" idx="1"/>
          </p:nvPr>
        </p:nvSpPr>
        <p:spPr>
          <a:xfrm>
            <a:off x="-189176" y="-32611"/>
            <a:ext cx="9333175" cy="4696655"/>
          </a:xfrm>
          <a:prstGeom prst="rect">
            <a:avLst/>
          </a:prstGeom>
          <a:noFill/>
          <a:ln>
            <a:noFill/>
          </a:ln>
        </p:spPr>
        <p:txBody>
          <a:bodyPr spcFirstLastPara="1" wrap="square" lIns="91425" tIns="914400" rIns="91425" bIns="91425" anchor="ctr" anchorCtr="0">
            <a:spAutoFit/>
          </a:bodyPr>
          <a:lstStyle/>
          <a:p>
            <a:pPr marL="457200" lvl="0" indent="0" algn="just" rtl="0">
              <a:lnSpc>
                <a:spcPct val="115000"/>
              </a:lnSpc>
              <a:spcBef>
                <a:spcPts val="0"/>
              </a:spcBef>
              <a:spcAft>
                <a:spcPts val="0"/>
              </a:spcAft>
              <a:buSzPts val="1800"/>
              <a:buNone/>
            </a:pPr>
            <a:r>
              <a:rPr lang="en" sz="1600">
                <a:solidFill>
                  <a:schemeClr val="dk1"/>
                </a:solidFill>
              </a:rPr>
              <a:t>When we practice Sahaja Yoga meditation everyday morning and evening (around 5 to 10 minutes), and meditate in a group (called as collective meditation) at least once a week, it helps us in many ways:</a:t>
            </a:r>
            <a:endParaRPr/>
          </a:p>
          <a:p>
            <a:pPr marL="0" lvl="0" indent="0" algn="just" rtl="0">
              <a:lnSpc>
                <a:spcPct val="115000"/>
              </a:lnSpc>
              <a:spcBef>
                <a:spcPts val="0"/>
              </a:spcBef>
              <a:spcAft>
                <a:spcPts val="0"/>
              </a:spcAft>
              <a:buSzPts val="1800"/>
              <a:buNone/>
            </a:pPr>
            <a:endParaRPr sz="1600">
              <a:solidFill>
                <a:schemeClr val="dk1"/>
              </a:solidFill>
            </a:endParaRPr>
          </a:p>
          <a:p>
            <a:pPr marL="914400" lvl="1" indent="-330200" algn="just" rtl="0">
              <a:lnSpc>
                <a:spcPct val="115000"/>
              </a:lnSpc>
              <a:spcBef>
                <a:spcPts val="0"/>
              </a:spcBef>
              <a:spcAft>
                <a:spcPts val="0"/>
              </a:spcAft>
              <a:buClr>
                <a:schemeClr val="dk1"/>
              </a:buClr>
              <a:buSzPts val="1600"/>
              <a:buChar char="○"/>
            </a:pPr>
            <a:r>
              <a:rPr lang="en" sz="1600">
                <a:solidFill>
                  <a:schemeClr val="dk1"/>
                </a:solidFill>
              </a:rPr>
              <a:t>The main benefit is that we will be always connected to God, or the Universal energy.</a:t>
            </a:r>
            <a:endParaRPr/>
          </a:p>
          <a:p>
            <a:pPr marL="914400" lvl="1" indent="-330200" algn="just" rtl="0">
              <a:lnSpc>
                <a:spcPct val="115000"/>
              </a:lnSpc>
              <a:spcBef>
                <a:spcPts val="0"/>
              </a:spcBef>
              <a:spcAft>
                <a:spcPts val="0"/>
              </a:spcAft>
              <a:buClr>
                <a:schemeClr val="dk1"/>
              </a:buClr>
              <a:buSzPts val="1600"/>
              <a:buChar char="○"/>
            </a:pPr>
            <a:r>
              <a:rPr lang="en" sz="1600">
                <a:solidFill>
                  <a:schemeClr val="dk1"/>
                </a:solidFill>
              </a:rPr>
              <a:t>It cures all physical, mental, and emotional problems. </a:t>
            </a:r>
            <a:endParaRPr/>
          </a:p>
          <a:p>
            <a:pPr marL="914400" lvl="1" indent="-330200" algn="just" rtl="0">
              <a:lnSpc>
                <a:spcPct val="115000"/>
              </a:lnSpc>
              <a:spcBef>
                <a:spcPts val="0"/>
              </a:spcBef>
              <a:spcAft>
                <a:spcPts val="0"/>
              </a:spcAft>
              <a:buClr>
                <a:schemeClr val="dk1"/>
              </a:buClr>
              <a:buSzPts val="1600"/>
              <a:buChar char="○"/>
            </a:pPr>
            <a:r>
              <a:rPr lang="en" sz="1600">
                <a:solidFill>
                  <a:schemeClr val="dk1"/>
                </a:solidFill>
              </a:rPr>
              <a:t>It makes us peaceful and always keeps us in balance. </a:t>
            </a:r>
            <a:endParaRPr sz="1600">
              <a:solidFill>
                <a:schemeClr val="dk1"/>
              </a:solidFill>
            </a:endParaRPr>
          </a:p>
          <a:p>
            <a:pPr marL="914400" lvl="1" indent="-330200" algn="just" rtl="0">
              <a:lnSpc>
                <a:spcPct val="115000"/>
              </a:lnSpc>
              <a:spcBef>
                <a:spcPts val="0"/>
              </a:spcBef>
              <a:spcAft>
                <a:spcPts val="0"/>
              </a:spcAft>
              <a:buClr>
                <a:schemeClr val="dk1"/>
              </a:buClr>
              <a:buSzPts val="1600"/>
              <a:buChar char="○"/>
            </a:pPr>
            <a:r>
              <a:rPr lang="en" sz="1600">
                <a:solidFill>
                  <a:schemeClr val="dk1"/>
                </a:solidFill>
              </a:rPr>
              <a:t>It balances our chakras which improve the qualities associated with those chakras within us. For example, when the swadisthana (2nd chakra) gets balanced, our creativity improves (and reflects in various forms such as singing, dancing, painting, etc.) </a:t>
            </a:r>
            <a:endParaRPr sz="1600">
              <a:solidFill>
                <a:schemeClr val="dk1"/>
              </a:solidFill>
            </a:endParaRPr>
          </a:p>
          <a:p>
            <a:pPr marL="914400" lvl="1" indent="-330200" algn="just" rtl="0">
              <a:lnSpc>
                <a:spcPct val="115000"/>
              </a:lnSpc>
              <a:spcBef>
                <a:spcPts val="0"/>
              </a:spcBef>
              <a:spcAft>
                <a:spcPts val="0"/>
              </a:spcAft>
              <a:buClr>
                <a:schemeClr val="dk1"/>
              </a:buClr>
              <a:buSzPts val="1600"/>
              <a:buChar char="○"/>
            </a:pPr>
            <a:r>
              <a:rPr lang="en" sz="1600">
                <a:solidFill>
                  <a:schemeClr val="dk1"/>
                </a:solidFill>
              </a:rPr>
              <a:t>It gives us good health, and happiness.</a:t>
            </a:r>
            <a:endParaRPr/>
          </a:p>
          <a:p>
            <a:pPr marL="914400" lvl="1" indent="-330200" algn="just" rtl="0">
              <a:lnSpc>
                <a:spcPct val="115000"/>
              </a:lnSpc>
              <a:spcBef>
                <a:spcPts val="0"/>
              </a:spcBef>
              <a:spcAft>
                <a:spcPts val="0"/>
              </a:spcAft>
              <a:buClr>
                <a:schemeClr val="dk1"/>
              </a:buClr>
              <a:buSzPts val="1600"/>
              <a:buChar char="○"/>
            </a:pPr>
            <a:r>
              <a:rPr lang="en" sz="1600">
                <a:solidFill>
                  <a:schemeClr val="dk1"/>
                </a:solidFill>
              </a:rPr>
              <a:t>It teaches us to help each other and enjoy as a group.</a:t>
            </a:r>
            <a:endParaRPr/>
          </a:p>
          <a:p>
            <a:pPr marL="914400" lvl="1" indent="-330200" algn="just" rtl="0">
              <a:lnSpc>
                <a:spcPct val="115000"/>
              </a:lnSpc>
              <a:spcBef>
                <a:spcPts val="0"/>
              </a:spcBef>
              <a:spcAft>
                <a:spcPts val="0"/>
              </a:spcAft>
              <a:buClr>
                <a:schemeClr val="dk1"/>
              </a:buClr>
              <a:buSzPts val="1600"/>
              <a:buChar char="○"/>
            </a:pPr>
            <a:r>
              <a:rPr lang="en" sz="1600">
                <a:solidFill>
                  <a:schemeClr val="dk1"/>
                </a:solidFill>
              </a:rPr>
              <a:t>It will make us free from stress, and tensions.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5"/>
          <p:cNvSpPr txBox="1">
            <a:spLocks noGrp="1"/>
          </p:cNvSpPr>
          <p:nvPr>
            <p:ph type="title"/>
          </p:nvPr>
        </p:nvSpPr>
        <p:spPr>
          <a:xfrm>
            <a:off x="0" y="4325"/>
            <a:ext cx="9144000" cy="576072"/>
          </a:xfrm>
          <a:prstGeom prst="rect">
            <a:avLst/>
          </a:prstGeom>
          <a:noFill/>
          <a:ln>
            <a:noFill/>
          </a:ln>
        </p:spPr>
        <p:txBody>
          <a:bodyPr spcFirstLastPara="1" wrap="square" lIns="91425" tIns="91425" rIns="91425" bIns="91425" anchor="ctr" anchorCtr="0">
            <a:normAutofit fontScale="90000"/>
          </a:bodyPr>
          <a:lstStyle/>
          <a:p>
            <a:pPr marL="0" lvl="0" indent="0" algn="ctr" rtl="0">
              <a:lnSpc>
                <a:spcPct val="115000"/>
              </a:lnSpc>
              <a:spcBef>
                <a:spcPts val="0"/>
              </a:spcBef>
              <a:spcAft>
                <a:spcPts val="0"/>
              </a:spcAft>
              <a:buClr>
                <a:schemeClr val="dk1"/>
              </a:buClr>
              <a:buSzPct val="30554"/>
              <a:buFont typeface="Arial"/>
              <a:buNone/>
            </a:pPr>
            <a:r>
              <a:rPr lang="en" sz="3600" b="1" u="sng" dirty="0">
                <a:solidFill>
                  <a:srgbClr val="993F0D"/>
                </a:solidFill>
              </a:rPr>
              <a:t>Experience Self-Realization by Shri Mataji</a:t>
            </a:r>
            <a:endParaRPr sz="3600" b="1" u="sng" dirty="0">
              <a:solidFill>
                <a:srgbClr val="993F0D"/>
              </a:solidFill>
            </a:endParaRPr>
          </a:p>
        </p:txBody>
      </p:sp>
      <p:sp>
        <p:nvSpPr>
          <p:cNvPr id="100" name="Google Shape;100;p5"/>
          <p:cNvSpPr txBox="1"/>
          <p:nvPr/>
        </p:nvSpPr>
        <p:spPr>
          <a:xfrm>
            <a:off x="2121225" y="1126325"/>
            <a:ext cx="4430100" cy="123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pic>
        <p:nvPicPr>
          <p:cNvPr id="101" name="Google Shape;101;p5" descr="HH Shri Mataji Nirmala Devi gives Self Realization - English"/>
          <p:cNvPicPr preferRelativeResize="0"/>
          <p:nvPr/>
        </p:nvPicPr>
        <p:blipFill rotWithShape="1">
          <a:blip r:embed="rId3">
            <a:alphaModFix/>
          </a:blip>
          <a:srcRect/>
          <a:stretch/>
        </p:blipFill>
        <p:spPr>
          <a:xfrm>
            <a:off x="1306286" y="580397"/>
            <a:ext cx="7106194" cy="443566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1"/>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6"/>
          <p:cNvSpPr txBox="1">
            <a:spLocks noGrp="1"/>
          </p:cNvSpPr>
          <p:nvPr>
            <p:ph type="title"/>
          </p:nvPr>
        </p:nvSpPr>
        <p:spPr>
          <a:xfrm>
            <a:off x="0" y="0"/>
            <a:ext cx="9144000" cy="576072"/>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r>
              <a:rPr lang="en" sz="3200" b="1" u="sng" dirty="0">
                <a:solidFill>
                  <a:srgbClr val="993F0D"/>
                </a:solidFill>
              </a:rPr>
              <a:t>Daily meditation</a:t>
            </a:r>
            <a:endParaRPr sz="3200" b="1" u="sng" dirty="0">
              <a:solidFill>
                <a:srgbClr val="993F0D"/>
              </a:solidFill>
            </a:endParaRPr>
          </a:p>
          <a:p>
            <a:pPr marL="0" lvl="0" indent="0" algn="ctr" rtl="0">
              <a:lnSpc>
                <a:spcPct val="100000"/>
              </a:lnSpc>
              <a:spcBef>
                <a:spcPts val="800"/>
              </a:spcBef>
              <a:spcAft>
                <a:spcPts val="0"/>
              </a:spcAft>
              <a:buSzPts val="2800"/>
              <a:buNone/>
            </a:pPr>
            <a:endParaRPr sz="2400" dirty="0"/>
          </a:p>
        </p:txBody>
      </p:sp>
      <p:pic>
        <p:nvPicPr>
          <p:cNvPr id="107" name="Google Shape;107;p6"/>
          <p:cNvPicPr preferRelativeResize="0"/>
          <p:nvPr/>
        </p:nvPicPr>
        <p:blipFill rotWithShape="1">
          <a:blip r:embed="rId3">
            <a:alphaModFix/>
          </a:blip>
          <a:srcRect/>
          <a:stretch/>
        </p:blipFill>
        <p:spPr>
          <a:xfrm>
            <a:off x="0" y="1323276"/>
            <a:ext cx="9144000" cy="3011613"/>
          </a:xfrm>
          <a:prstGeom prst="rect">
            <a:avLst/>
          </a:prstGeom>
          <a:noFill/>
          <a:ln>
            <a:noFill/>
          </a:ln>
        </p:spPr>
      </p:pic>
      <p:sp>
        <p:nvSpPr>
          <p:cNvPr id="108" name="Google Shape;108;p6"/>
          <p:cNvSpPr txBox="1"/>
          <p:nvPr/>
        </p:nvSpPr>
        <p:spPr>
          <a:xfrm>
            <a:off x="152550" y="4277451"/>
            <a:ext cx="2992200" cy="581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200"/>
              <a:buFont typeface="Arial"/>
              <a:buNone/>
            </a:pPr>
            <a:r>
              <a:rPr lang="en" sz="1200" b="1" i="0" u="none" strike="noStrike" cap="none">
                <a:solidFill>
                  <a:schemeClr val="dk1"/>
                </a:solidFill>
                <a:latin typeface="Arial"/>
                <a:ea typeface="Arial"/>
                <a:cs typeface="Arial"/>
                <a:sym typeface="Arial"/>
              </a:rPr>
              <a:t>Mother Kundalini, please balance my Left channel </a:t>
            </a:r>
            <a:endParaRPr sz="1200" b="1" i="0" u="none" strike="noStrike" cap="none">
              <a:solidFill>
                <a:schemeClr val="dk1"/>
              </a:solidFill>
              <a:latin typeface="Arial"/>
              <a:ea typeface="Arial"/>
              <a:cs typeface="Arial"/>
              <a:sym typeface="Arial"/>
            </a:endParaRPr>
          </a:p>
        </p:txBody>
      </p:sp>
      <p:sp>
        <p:nvSpPr>
          <p:cNvPr id="109" name="Google Shape;109;p6"/>
          <p:cNvSpPr txBox="1"/>
          <p:nvPr/>
        </p:nvSpPr>
        <p:spPr>
          <a:xfrm>
            <a:off x="355725" y="581700"/>
            <a:ext cx="8680200" cy="840600"/>
          </a:xfrm>
          <a:prstGeom prst="rect">
            <a:avLst/>
          </a:prstGeom>
          <a:noFill/>
          <a:ln>
            <a:noFill/>
          </a:ln>
        </p:spPr>
        <p:txBody>
          <a:bodyPr spcFirstLastPara="1" wrap="square" lIns="91425" tIns="91425" rIns="91425" bIns="91425" anchor="ctr" anchorCtr="0">
            <a:noAutofit/>
          </a:bodyPr>
          <a:lstStyle/>
          <a:p>
            <a:pPr marL="127000" marR="0" lvl="0" indent="0" algn="just"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Arial"/>
                <a:ea typeface="Arial"/>
                <a:cs typeface="Arial"/>
                <a:sym typeface="Arial"/>
              </a:rPr>
              <a:t>We can follow these simple steps to remove imbalances and then sit in silent meditation for a few (~10) minutes to feel the cool breeze and peacefulness. This is called Meditation.</a:t>
            </a:r>
            <a:endParaRPr sz="1600" b="0" i="0" u="none" strike="noStrike" cap="none">
              <a:solidFill>
                <a:schemeClr val="dk1"/>
              </a:solidFill>
              <a:latin typeface="Arial"/>
              <a:ea typeface="Arial"/>
              <a:cs typeface="Arial"/>
              <a:sym typeface="Arial"/>
            </a:endParaRPr>
          </a:p>
        </p:txBody>
      </p:sp>
      <p:sp>
        <p:nvSpPr>
          <p:cNvPr id="110" name="Google Shape;110;p6"/>
          <p:cNvSpPr txBox="1"/>
          <p:nvPr/>
        </p:nvSpPr>
        <p:spPr>
          <a:xfrm>
            <a:off x="3195825" y="4272885"/>
            <a:ext cx="3000000" cy="581700"/>
          </a:xfrm>
          <a:prstGeom prst="rect">
            <a:avLst/>
          </a:prstGeom>
          <a:noFill/>
          <a:ln>
            <a:noFill/>
          </a:ln>
        </p:spPr>
        <p:txBody>
          <a:bodyPr spcFirstLastPara="1" wrap="square" lIns="91425" tIns="91425" rIns="91425" bIns="91425" anchor="ctr" anchorCtr="0">
            <a:noAutofit/>
          </a:bodyPr>
          <a:lstStyle/>
          <a:p>
            <a:pPr marL="0" marR="0" lvl="0" indent="0" algn="r" rtl="0">
              <a:lnSpc>
                <a:spcPct val="115000"/>
              </a:lnSpc>
              <a:spcBef>
                <a:spcPts val="0"/>
              </a:spcBef>
              <a:spcAft>
                <a:spcPts val="0"/>
              </a:spcAft>
              <a:buClr>
                <a:srgbClr val="000000"/>
              </a:buClr>
              <a:buSzPts val="1200"/>
              <a:buFont typeface="Arial"/>
              <a:buNone/>
            </a:pPr>
            <a:r>
              <a:rPr lang="en" sz="1200" b="1" i="0" u="none" strike="noStrike" cap="none">
                <a:solidFill>
                  <a:schemeClr val="dk1"/>
                </a:solidFill>
                <a:latin typeface="Arial"/>
                <a:ea typeface="Arial"/>
                <a:cs typeface="Arial"/>
                <a:sym typeface="Arial"/>
              </a:rPr>
              <a:t>Mother Kundalini, please balance my Right channel	</a:t>
            </a:r>
            <a:endParaRPr sz="1200" b="1" i="0" u="none" strike="noStrike" cap="none">
              <a:solidFill>
                <a:schemeClr val="dk1"/>
              </a:solidFill>
              <a:latin typeface="Arial"/>
              <a:ea typeface="Arial"/>
              <a:cs typeface="Arial"/>
              <a:sym typeface="Arial"/>
            </a:endParaRPr>
          </a:p>
        </p:txBody>
      </p:sp>
      <p:sp>
        <p:nvSpPr>
          <p:cNvPr id="111" name="Google Shape;111;p6"/>
          <p:cNvSpPr txBox="1"/>
          <p:nvPr/>
        </p:nvSpPr>
        <p:spPr>
          <a:xfrm>
            <a:off x="6300025" y="4272885"/>
            <a:ext cx="2844000" cy="794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200"/>
              <a:buFont typeface="Arial"/>
              <a:buNone/>
            </a:pPr>
            <a:r>
              <a:rPr lang="en" sz="1200" b="1" i="0" u="none" strike="noStrike" cap="none">
                <a:solidFill>
                  <a:schemeClr val="dk1"/>
                </a:solidFill>
                <a:latin typeface="Arial"/>
                <a:ea typeface="Arial"/>
                <a:cs typeface="Arial"/>
                <a:sym typeface="Arial"/>
              </a:rPr>
              <a:t>Mother Kundalini, please keep me in the present. Please give me self-realization. </a:t>
            </a:r>
            <a:endParaRPr sz="1200" b="1"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0" y="1143"/>
            <a:ext cx="91440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86419"/>
              <a:buNone/>
            </a:pPr>
            <a:r>
              <a:rPr lang="en" sz="3600" b="1" u="sng" dirty="0">
                <a:solidFill>
                  <a:srgbClr val="993F0D"/>
                </a:solidFill>
              </a:rPr>
              <a:t>Bandhan</a:t>
            </a:r>
            <a:endParaRPr u="sng" dirty="0"/>
          </a:p>
        </p:txBody>
      </p:sp>
      <p:sp>
        <p:nvSpPr>
          <p:cNvPr id="117" name="Google Shape;117;p23"/>
          <p:cNvSpPr txBox="1"/>
          <p:nvPr/>
        </p:nvSpPr>
        <p:spPr>
          <a:xfrm>
            <a:off x="0" y="497037"/>
            <a:ext cx="9043516" cy="4415352"/>
          </a:xfrm>
          <a:prstGeom prst="rect">
            <a:avLst/>
          </a:prstGeom>
          <a:noFill/>
          <a:ln>
            <a:noFill/>
          </a:ln>
        </p:spPr>
        <p:txBody>
          <a:bodyPr spcFirstLastPara="1" wrap="square" lIns="91425" tIns="91425" rIns="91425" bIns="91425" anchor="t" anchorCtr="0">
            <a:noAutofit/>
          </a:bodyPr>
          <a:lstStyle/>
          <a:p>
            <a:pPr marL="127000" marR="0" lvl="0" indent="0" algn="l" rtl="0">
              <a:lnSpc>
                <a:spcPct val="115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Bandhan means raising our Kundalini energy and creating a protection around us.</a:t>
            </a:r>
            <a:endParaRPr sz="1400" b="0" i="0" u="none" strike="noStrike" cap="none" dirty="0">
              <a:solidFill>
                <a:srgbClr val="000000"/>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We follow the steps below to rise our Kundalini energy in a bandhan:  </a:t>
            </a:r>
            <a:endParaRPr sz="1400" b="0" i="0" u="none" strike="noStrike" cap="none" dirty="0">
              <a:solidFill>
                <a:srgbClr val="000000"/>
              </a:solidFill>
              <a:latin typeface="Arial"/>
              <a:ea typeface="Arial"/>
              <a:cs typeface="Arial"/>
              <a:sym typeface="Arial"/>
            </a:endParaRPr>
          </a:p>
          <a:p>
            <a:pPr marL="914400" marR="0" lvl="1"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Firstly, we keep our palms in facing us near the first chakra (below sacrum bone).   </a:t>
            </a:r>
            <a:endParaRPr sz="1400" b="0" i="0" u="none" strike="noStrike" cap="none" dirty="0">
              <a:solidFill>
                <a:srgbClr val="000000"/>
              </a:solidFill>
              <a:latin typeface="Arial"/>
              <a:ea typeface="Arial"/>
              <a:cs typeface="Arial"/>
              <a:sym typeface="Arial"/>
            </a:endParaRPr>
          </a:p>
          <a:p>
            <a:pPr marL="914400" marR="0" lvl="1"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We move left palm from bottom of spine to top of our head. While doing this, the right palm moves around the left palm like making a circle around it (inside-out or clock-wise direction).    </a:t>
            </a:r>
            <a:endParaRPr sz="1400" b="0" i="0" u="none" strike="noStrike" cap="none" dirty="0">
              <a:solidFill>
                <a:srgbClr val="000000"/>
              </a:solidFill>
              <a:latin typeface="Arial"/>
              <a:ea typeface="Arial"/>
              <a:cs typeface="Arial"/>
              <a:sym typeface="Arial"/>
            </a:endParaRPr>
          </a:p>
          <a:p>
            <a:pPr marL="914400" marR="0" lvl="1"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We do the above step 3 times, and we tie 1 knot on top of head for the first time, 2 knots the second time, and 3 knots the third time.  </a:t>
            </a:r>
            <a:endParaRPr sz="1400" b="0" i="0" u="none" strike="noStrike" cap="none" dirty="0">
              <a:solidFill>
                <a:srgbClr val="000000"/>
              </a:solidFill>
              <a:latin typeface="Arial"/>
              <a:ea typeface="Arial"/>
              <a:cs typeface="Arial"/>
              <a:sym typeface="Arial"/>
            </a:endParaRPr>
          </a:p>
          <a:p>
            <a:pPr marL="914400" marR="0" lvl="1"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We now keep our left hand open on our lap and move the right hand from left hand to top of our head and then to the right like making a rainbow and then move back the same way from right side to left side.   </a:t>
            </a:r>
            <a:endParaRPr sz="1400" b="0" i="0" u="none" strike="noStrike" cap="none" dirty="0">
              <a:solidFill>
                <a:srgbClr val="000000"/>
              </a:solidFill>
              <a:latin typeface="Arial"/>
              <a:ea typeface="Arial"/>
              <a:cs typeface="Arial"/>
              <a:sym typeface="Arial"/>
            </a:endParaRPr>
          </a:p>
          <a:p>
            <a:pPr marL="914400" marR="0" lvl="1"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We repeat the above step 7 times.   </a:t>
            </a:r>
            <a:endParaRPr sz="1400" b="0" i="0" u="none" strike="noStrike" cap="none" dirty="0">
              <a:solidFill>
                <a:srgbClr val="000000"/>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We should raise our kundalini and give bandhan every time before and after meditation.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4"/>
          <p:cNvSpPr txBox="1">
            <a:spLocks noGrp="1"/>
          </p:cNvSpPr>
          <p:nvPr>
            <p:ph type="title"/>
          </p:nvPr>
        </p:nvSpPr>
        <p:spPr>
          <a:xfrm>
            <a:off x="0" y="1143"/>
            <a:ext cx="91440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86419"/>
              <a:buNone/>
            </a:pPr>
            <a:r>
              <a:rPr lang="en" sz="3600" b="1" u="sng" dirty="0">
                <a:solidFill>
                  <a:srgbClr val="993F0D"/>
                </a:solidFill>
              </a:rPr>
              <a:t>Foot-Soaking</a:t>
            </a:r>
            <a:endParaRPr u="sng" dirty="0"/>
          </a:p>
        </p:txBody>
      </p:sp>
      <p:pic>
        <p:nvPicPr>
          <p:cNvPr id="123" name="Google Shape;123;p24"/>
          <p:cNvPicPr preferRelativeResize="0"/>
          <p:nvPr/>
        </p:nvPicPr>
        <p:blipFill rotWithShape="1">
          <a:blip r:embed="rId3">
            <a:alphaModFix/>
          </a:blip>
          <a:srcRect/>
          <a:stretch/>
        </p:blipFill>
        <p:spPr>
          <a:xfrm>
            <a:off x="6794416" y="3326006"/>
            <a:ext cx="2329488" cy="1777302"/>
          </a:xfrm>
          <a:prstGeom prst="rect">
            <a:avLst/>
          </a:prstGeom>
          <a:noFill/>
          <a:ln>
            <a:noFill/>
          </a:ln>
        </p:spPr>
      </p:pic>
      <p:sp>
        <p:nvSpPr>
          <p:cNvPr id="124" name="Google Shape;124;p24"/>
          <p:cNvSpPr txBox="1"/>
          <p:nvPr/>
        </p:nvSpPr>
        <p:spPr>
          <a:xfrm>
            <a:off x="0" y="497037"/>
            <a:ext cx="8973178" cy="4415352"/>
          </a:xfrm>
          <a:prstGeom prst="rect">
            <a:avLst/>
          </a:prstGeom>
          <a:noFill/>
          <a:ln>
            <a:noFill/>
          </a:ln>
        </p:spPr>
        <p:txBody>
          <a:bodyPr spcFirstLastPara="1" wrap="square" lIns="91425" tIns="91425" rIns="91425" bIns="91425" anchor="t" anchorCtr="0">
            <a:noAutofit/>
          </a:bodyPr>
          <a:lstStyle/>
          <a:p>
            <a:pPr marL="127000" marR="0" lvl="0" indent="0" algn="l" rtl="0">
              <a:lnSpc>
                <a:spcPct val="115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Foot-Soaking is a method to cleanse our inner being using water element.  </a:t>
            </a:r>
            <a:endParaRPr sz="1400" b="0" i="0" u="none" strike="noStrike" cap="none" dirty="0">
              <a:solidFill>
                <a:srgbClr val="000000"/>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Steps </a:t>
            </a:r>
            <a:endParaRPr sz="1400" b="0" i="0" u="none" strike="noStrike" cap="none" dirty="0">
              <a:solidFill>
                <a:srgbClr val="000000"/>
              </a:solidFill>
              <a:latin typeface="Arial"/>
              <a:ea typeface="Arial"/>
              <a:cs typeface="Arial"/>
              <a:sym typeface="Arial"/>
            </a:endParaRPr>
          </a:p>
          <a:p>
            <a:pPr marL="914400" marR="0" lvl="1"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We fill a tub with clean water and add a handful of salt to it.  </a:t>
            </a:r>
            <a:endParaRPr sz="1400" b="0" i="0" u="none" strike="noStrike" cap="none" dirty="0">
              <a:solidFill>
                <a:srgbClr val="000000"/>
              </a:solidFill>
              <a:latin typeface="Arial"/>
              <a:ea typeface="Arial"/>
              <a:cs typeface="Arial"/>
              <a:sym typeface="Arial"/>
            </a:endParaRPr>
          </a:p>
          <a:p>
            <a:pPr marL="914400" marR="0" lvl="1"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We keep a towel, and fresh water in a mug aside.   </a:t>
            </a:r>
            <a:endParaRPr sz="1400" b="0" i="0" u="none" strike="noStrike" cap="none" dirty="0">
              <a:solidFill>
                <a:srgbClr val="000000"/>
              </a:solidFill>
              <a:latin typeface="Arial"/>
              <a:ea typeface="Arial"/>
              <a:cs typeface="Arial"/>
              <a:sym typeface="Arial"/>
            </a:endParaRPr>
          </a:p>
          <a:p>
            <a:pPr marL="914400" marR="0" lvl="1"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We sit on a chair and give bandhan to ourselves at the beginning of the meditation.</a:t>
            </a:r>
            <a:endParaRPr sz="1400" b="0" i="0" u="none" strike="noStrike" cap="none" dirty="0">
              <a:solidFill>
                <a:srgbClr val="000000"/>
              </a:solidFill>
              <a:latin typeface="Arial"/>
              <a:ea typeface="Arial"/>
              <a:cs typeface="Arial"/>
              <a:sym typeface="Arial"/>
            </a:endParaRPr>
          </a:p>
          <a:p>
            <a:pPr marL="914400" marR="0" lvl="1"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We keep our feet in the water tub to cleanse our left, right, and central channels (about 10-15 minutes).</a:t>
            </a:r>
            <a:endParaRPr sz="1400" b="0" i="0" u="none" strike="noStrike" cap="none" dirty="0">
              <a:solidFill>
                <a:srgbClr val="000000"/>
              </a:solidFill>
              <a:latin typeface="Arial"/>
              <a:ea typeface="Arial"/>
              <a:cs typeface="Arial"/>
              <a:sym typeface="Arial"/>
            </a:endParaRPr>
          </a:p>
          <a:p>
            <a:pPr marL="914400" marR="0" lvl="1"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After we are done, we wash our feet with freshwater and wipe with the towel. </a:t>
            </a:r>
            <a:endParaRPr sz="1400" b="0" i="0" u="none" strike="noStrike" cap="none" dirty="0">
              <a:solidFill>
                <a:srgbClr val="000000"/>
              </a:solidFill>
              <a:latin typeface="Arial"/>
              <a:ea typeface="Arial"/>
              <a:cs typeface="Arial"/>
              <a:sym typeface="Arial"/>
            </a:endParaRPr>
          </a:p>
          <a:p>
            <a:pPr marL="914400" marR="0" lvl="1"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We end by giving a bandhan to </a:t>
            </a:r>
            <a:r>
              <a:rPr lang="en" sz="1600" b="0" i="0" u="none" strike="noStrike" cap="none" dirty="0">
                <a:solidFill>
                  <a:srgbClr val="000000"/>
                </a:solidFill>
                <a:latin typeface="Arial"/>
                <a:ea typeface="Arial"/>
                <a:cs typeface="Arial"/>
                <a:sym typeface="Arial"/>
              </a:rPr>
              <a:t>ourselves</a:t>
            </a:r>
            <a:r>
              <a:rPr lang="en" sz="1600" b="0" i="0" u="none" strike="noStrike" cap="none" dirty="0">
                <a:solidFill>
                  <a:schemeClr val="dk1"/>
                </a:solidFill>
                <a:latin typeface="Arial"/>
                <a:ea typeface="Arial"/>
                <a:cs typeface="Arial"/>
                <a:sym typeface="Arial"/>
              </a:rPr>
              <a:t>. </a:t>
            </a:r>
          </a:p>
          <a:p>
            <a:pPr marL="914400" lvl="1" indent="-330200">
              <a:lnSpc>
                <a:spcPct val="115000"/>
              </a:lnSpc>
              <a:buClr>
                <a:schemeClr val="dk1"/>
              </a:buClr>
              <a:buSzPts val="1600"/>
              <a:buFont typeface="Arial"/>
              <a:buChar char="○"/>
            </a:pPr>
            <a:r>
              <a:rPr lang="en-US" sz="1600" dirty="0">
                <a:solidFill>
                  <a:schemeClr val="dk1"/>
                </a:solidFill>
              </a:rPr>
              <a:t>Drain the used water down the toilet as it carries our impurities.</a:t>
            </a:r>
            <a:endParaRPr sz="1400" b="0" i="0" u="none" strike="noStrike" cap="none" dirty="0">
              <a:solidFill>
                <a:srgbClr val="000000"/>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We light a candle in the room while doing this. </a:t>
            </a:r>
            <a:endParaRPr sz="1400" b="0" i="0" u="none" strike="noStrike" cap="none" dirty="0">
              <a:solidFill>
                <a:srgbClr val="000000"/>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 sz="1600" b="0" i="0" u="none" strike="noStrike" cap="none" dirty="0">
                <a:solidFill>
                  <a:schemeClr val="dk1"/>
                </a:solidFill>
                <a:latin typeface="Arial"/>
                <a:ea typeface="Arial"/>
                <a:cs typeface="Arial"/>
                <a:sym typeface="Arial"/>
              </a:rPr>
              <a:t>For best results, Foot-Soaking can be done just before going to sleep</a:t>
            </a:r>
            <a:endParaRPr dirty="0"/>
          </a:p>
          <a:p>
            <a:pPr marL="127000" marR="0" lvl="2" indent="0" algn="l" rtl="0">
              <a:lnSpc>
                <a:spcPct val="115000"/>
              </a:lnSpc>
              <a:spcBef>
                <a:spcPts val="0"/>
              </a:spcBef>
              <a:spcAft>
                <a:spcPts val="0"/>
              </a:spcAft>
              <a:buNone/>
            </a:pPr>
            <a:r>
              <a:rPr lang="en" sz="1600" b="0" i="0" u="none" strike="noStrike" cap="none" dirty="0">
                <a:solidFill>
                  <a:schemeClr val="dk1"/>
                </a:solidFill>
                <a:latin typeface="Arial"/>
                <a:ea typeface="Arial"/>
                <a:cs typeface="Arial"/>
                <a:sym typeface="Arial"/>
              </a:rPr>
              <a:t>      in the night.</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a:spLocks noGrp="1"/>
          </p:cNvSpPr>
          <p:nvPr>
            <p:ph type="ctrTitle"/>
          </p:nvPr>
        </p:nvSpPr>
        <p:spPr>
          <a:xfrm>
            <a:off x="0" y="0"/>
            <a:ext cx="9144000" cy="576072"/>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200"/>
              <a:buNone/>
            </a:pPr>
            <a:r>
              <a:rPr lang="en" sz="3200" b="1" u="sng" dirty="0">
                <a:solidFill>
                  <a:srgbClr val="993F0D"/>
                </a:solidFill>
              </a:rPr>
              <a:t>Primordial Masters</a:t>
            </a:r>
            <a:endParaRPr sz="3200" b="1" u="sng" dirty="0">
              <a:solidFill>
                <a:srgbClr val="980000"/>
              </a:solidFill>
            </a:endParaRPr>
          </a:p>
        </p:txBody>
      </p:sp>
      <p:sp>
        <p:nvSpPr>
          <p:cNvPr id="130" name="Google Shape;130;p25"/>
          <p:cNvSpPr txBox="1">
            <a:spLocks noGrp="1"/>
          </p:cNvSpPr>
          <p:nvPr>
            <p:ph type="subTitle" idx="1"/>
          </p:nvPr>
        </p:nvSpPr>
        <p:spPr>
          <a:xfrm>
            <a:off x="0" y="724093"/>
            <a:ext cx="9144000" cy="4059600"/>
          </a:xfrm>
          <a:prstGeom prst="rect">
            <a:avLst/>
          </a:prstGeom>
          <a:noFill/>
          <a:ln>
            <a:noFill/>
          </a:ln>
        </p:spPr>
        <p:txBody>
          <a:bodyPr spcFirstLastPara="1" wrap="square" lIns="91425" tIns="91425" rIns="91425" bIns="91425" anchor="t" anchorCtr="0">
            <a:normAutofit/>
          </a:bodyPr>
          <a:lstStyle/>
          <a:p>
            <a:pPr marL="127000" lvl="0" indent="0" algn="l" rtl="0">
              <a:lnSpc>
                <a:spcPct val="100000"/>
              </a:lnSpc>
              <a:spcBef>
                <a:spcPts val="0"/>
              </a:spcBef>
              <a:spcAft>
                <a:spcPts val="0"/>
              </a:spcAft>
              <a:buClr>
                <a:schemeClr val="dk1"/>
              </a:buClr>
              <a:buSzPts val="1600"/>
              <a:buNone/>
            </a:pPr>
            <a:endParaRPr sz="1600" dirty="0">
              <a:solidFill>
                <a:schemeClr val="dk1"/>
              </a:solidFill>
            </a:endParaRPr>
          </a:p>
          <a:p>
            <a:pPr marL="457200" lvl="0" indent="-330200" algn="l" rtl="0">
              <a:lnSpc>
                <a:spcPct val="100000"/>
              </a:lnSpc>
              <a:spcBef>
                <a:spcPts val="0"/>
              </a:spcBef>
              <a:spcAft>
                <a:spcPts val="0"/>
              </a:spcAft>
              <a:buClr>
                <a:schemeClr val="dk1"/>
              </a:buClr>
              <a:buSzPts val="1600"/>
              <a:buChar char="●"/>
            </a:pPr>
            <a:r>
              <a:rPr lang="en" sz="1600" dirty="0">
                <a:solidFill>
                  <a:schemeClr val="dk1"/>
                </a:solidFill>
              </a:rPr>
              <a:t>Primordial masters (or Adi Gurus’) are born at different times and taught us the principles to lead a dharmic life.</a:t>
            </a:r>
            <a:endParaRPr dirty="0"/>
          </a:p>
          <a:p>
            <a:pPr marL="457200" lvl="0" indent="-330200" algn="l" rtl="0">
              <a:lnSpc>
                <a:spcPct val="100000"/>
              </a:lnSpc>
              <a:spcBef>
                <a:spcPts val="0"/>
              </a:spcBef>
              <a:spcAft>
                <a:spcPts val="0"/>
              </a:spcAft>
              <a:buClr>
                <a:schemeClr val="dk1"/>
              </a:buClr>
              <a:buSzPts val="1600"/>
              <a:buChar char="●"/>
            </a:pPr>
            <a:r>
              <a:rPr lang="en" sz="1600" dirty="0">
                <a:solidFill>
                  <a:schemeClr val="dk1"/>
                </a:solidFill>
              </a:rPr>
              <a:t>They also described about the experience and importance of self-realization</a:t>
            </a:r>
            <a:endParaRPr dirty="0"/>
          </a:p>
          <a:p>
            <a:pPr marL="457200" lvl="0" indent="-330200" algn="l" rtl="0">
              <a:lnSpc>
                <a:spcPct val="100000"/>
              </a:lnSpc>
              <a:spcBef>
                <a:spcPts val="0"/>
              </a:spcBef>
              <a:spcAft>
                <a:spcPts val="0"/>
              </a:spcAft>
              <a:buClr>
                <a:schemeClr val="dk1"/>
              </a:buClr>
              <a:buSzPts val="1600"/>
              <a:buChar char="●"/>
            </a:pPr>
            <a:r>
              <a:rPr lang="en" sz="1600" dirty="0">
                <a:solidFill>
                  <a:schemeClr val="dk1"/>
                </a:solidFill>
              </a:rPr>
              <a:t>Below are the 10 primordial masters:</a:t>
            </a:r>
            <a:endParaRPr dirty="0"/>
          </a:p>
          <a:p>
            <a:pPr marL="127000" lvl="0" indent="0" algn="l" rtl="0">
              <a:lnSpc>
                <a:spcPct val="100000"/>
              </a:lnSpc>
              <a:spcBef>
                <a:spcPts val="0"/>
              </a:spcBef>
              <a:spcAft>
                <a:spcPts val="0"/>
              </a:spcAft>
              <a:buClr>
                <a:schemeClr val="dk1"/>
              </a:buClr>
              <a:buSzPts val="1600"/>
              <a:buNone/>
            </a:pPr>
            <a:endParaRPr sz="1600" dirty="0">
              <a:solidFill>
                <a:schemeClr val="dk1"/>
              </a:solidFill>
            </a:endParaRPr>
          </a:p>
          <a:p>
            <a:pPr marL="127000" lvl="0" indent="0" algn="l" rtl="0">
              <a:lnSpc>
                <a:spcPct val="100000"/>
              </a:lnSpc>
              <a:spcBef>
                <a:spcPts val="0"/>
              </a:spcBef>
              <a:spcAft>
                <a:spcPts val="0"/>
              </a:spcAft>
              <a:buClr>
                <a:schemeClr val="dk1"/>
              </a:buClr>
              <a:buSzPts val="1600"/>
              <a:buNone/>
            </a:pPr>
            <a:endParaRPr sz="1600" dirty="0">
              <a:solidFill>
                <a:schemeClr val="dk1"/>
              </a:solidFill>
            </a:endParaRPr>
          </a:p>
          <a:p>
            <a:pPr marL="127000" lvl="0" indent="0" algn="l" rtl="0">
              <a:lnSpc>
                <a:spcPct val="100000"/>
              </a:lnSpc>
              <a:spcBef>
                <a:spcPts val="0"/>
              </a:spcBef>
              <a:spcAft>
                <a:spcPts val="0"/>
              </a:spcAft>
              <a:buClr>
                <a:schemeClr val="dk1"/>
              </a:buClr>
              <a:buSzPts val="1600"/>
              <a:buNone/>
            </a:pPr>
            <a:endParaRPr sz="1600" dirty="0">
              <a:solidFill>
                <a:schemeClr val="dk1"/>
              </a:solidFill>
            </a:endParaRPr>
          </a:p>
          <a:p>
            <a:pPr marL="127000" lvl="0" indent="0" algn="l" rtl="0">
              <a:lnSpc>
                <a:spcPct val="100000"/>
              </a:lnSpc>
              <a:spcBef>
                <a:spcPts val="0"/>
              </a:spcBef>
              <a:spcAft>
                <a:spcPts val="0"/>
              </a:spcAft>
              <a:buClr>
                <a:schemeClr val="dk1"/>
              </a:buClr>
              <a:buSzPts val="1600"/>
              <a:buNone/>
            </a:pPr>
            <a:endParaRPr sz="1600" dirty="0">
              <a:solidFill>
                <a:schemeClr val="dk1"/>
              </a:solidFill>
            </a:endParaRPr>
          </a:p>
          <a:p>
            <a:pPr marL="127000" lvl="0" indent="0" algn="l" rtl="0">
              <a:lnSpc>
                <a:spcPct val="100000"/>
              </a:lnSpc>
              <a:spcBef>
                <a:spcPts val="0"/>
              </a:spcBef>
              <a:spcAft>
                <a:spcPts val="0"/>
              </a:spcAft>
              <a:buClr>
                <a:schemeClr val="dk1"/>
              </a:buClr>
              <a:buSzPts val="1600"/>
              <a:buNone/>
            </a:pPr>
            <a:endParaRPr sz="1600" dirty="0">
              <a:solidFill>
                <a:schemeClr val="dk1"/>
              </a:solidFill>
            </a:endParaRPr>
          </a:p>
          <a:p>
            <a:pPr marL="127000" lvl="0" indent="0" algn="l" rtl="0">
              <a:lnSpc>
                <a:spcPct val="100000"/>
              </a:lnSpc>
              <a:spcBef>
                <a:spcPts val="0"/>
              </a:spcBef>
              <a:spcAft>
                <a:spcPts val="0"/>
              </a:spcAft>
              <a:buClr>
                <a:schemeClr val="dk1"/>
              </a:buClr>
              <a:buSzPts val="1600"/>
              <a:buNone/>
            </a:pPr>
            <a:endParaRPr sz="1600" dirty="0">
              <a:solidFill>
                <a:schemeClr val="dk1"/>
              </a:solidFill>
            </a:endParaRPr>
          </a:p>
          <a:p>
            <a:pPr marL="127000" lvl="0" indent="0" algn="l" rtl="0">
              <a:lnSpc>
                <a:spcPct val="100000"/>
              </a:lnSpc>
              <a:spcBef>
                <a:spcPts val="0"/>
              </a:spcBef>
              <a:spcAft>
                <a:spcPts val="0"/>
              </a:spcAft>
              <a:buClr>
                <a:schemeClr val="dk1"/>
              </a:buClr>
              <a:buSzPts val="1600"/>
              <a:buNone/>
            </a:pPr>
            <a:endParaRPr lang="en-US" sz="1600" dirty="0">
              <a:solidFill>
                <a:schemeClr val="dk1"/>
              </a:solidFill>
            </a:endParaRPr>
          </a:p>
          <a:p>
            <a:pPr marL="457200" lvl="0" indent="-228600" algn="l" rtl="0">
              <a:lnSpc>
                <a:spcPct val="100000"/>
              </a:lnSpc>
              <a:spcBef>
                <a:spcPts val="0"/>
              </a:spcBef>
              <a:spcAft>
                <a:spcPts val="0"/>
              </a:spcAft>
              <a:buClr>
                <a:schemeClr val="dk1"/>
              </a:buClr>
              <a:buSzPts val="1600"/>
              <a:buNone/>
            </a:pPr>
            <a:endParaRPr lang="en-US" sz="1600" dirty="0">
              <a:solidFill>
                <a:schemeClr val="dk1"/>
              </a:solidFill>
            </a:endParaRPr>
          </a:p>
          <a:p>
            <a:pPr marL="457200" lvl="0" indent="-228600" algn="l" rtl="0">
              <a:lnSpc>
                <a:spcPct val="100000"/>
              </a:lnSpc>
              <a:spcBef>
                <a:spcPts val="0"/>
              </a:spcBef>
              <a:spcAft>
                <a:spcPts val="0"/>
              </a:spcAft>
              <a:buClr>
                <a:schemeClr val="dk1"/>
              </a:buClr>
              <a:buSzPts val="1600"/>
              <a:buNone/>
            </a:pPr>
            <a:endParaRPr lang="en-US" sz="1600" dirty="0">
              <a:solidFill>
                <a:schemeClr val="dk1"/>
              </a:solidFill>
            </a:endParaRPr>
          </a:p>
        </p:txBody>
      </p:sp>
      <p:graphicFrame>
        <p:nvGraphicFramePr>
          <p:cNvPr id="131" name="Google Shape;131;p25"/>
          <p:cNvGraphicFramePr/>
          <p:nvPr>
            <p:extLst>
              <p:ext uri="{D42A27DB-BD31-4B8C-83A1-F6EECF244321}">
                <p14:modId xmlns:p14="http://schemas.microsoft.com/office/powerpoint/2010/main" val="3336076226"/>
              </p:ext>
            </p:extLst>
          </p:nvPr>
        </p:nvGraphicFramePr>
        <p:xfrm>
          <a:off x="432077" y="2191259"/>
          <a:ext cx="8711925" cy="1718750"/>
        </p:xfrm>
        <a:graphic>
          <a:graphicData uri="http://schemas.openxmlformats.org/drawingml/2006/table">
            <a:tbl>
              <a:tblPr>
                <a:noFill/>
                <a:tableStyleId>{2A8CBF88-474B-409E-B006-1E3737C0FF51}</a:tableStyleId>
              </a:tblPr>
              <a:tblGrid>
                <a:gridCol w="4285225">
                  <a:extLst>
                    <a:ext uri="{9D8B030D-6E8A-4147-A177-3AD203B41FA5}">
                      <a16:colId xmlns:a16="http://schemas.microsoft.com/office/drawing/2014/main" val="20000"/>
                    </a:ext>
                  </a:extLst>
                </a:gridCol>
                <a:gridCol w="4426700">
                  <a:extLst>
                    <a:ext uri="{9D8B030D-6E8A-4147-A177-3AD203B41FA5}">
                      <a16:colId xmlns:a16="http://schemas.microsoft.com/office/drawing/2014/main" val="20001"/>
                    </a:ext>
                  </a:extLst>
                </a:gridCol>
              </a:tblGrid>
              <a:tr h="343750">
                <a:tc>
                  <a:txBody>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Arial"/>
                          <a:ea typeface="Arial"/>
                          <a:cs typeface="Arial"/>
                          <a:sym typeface="Arial"/>
                        </a:rPr>
                        <a:t>1. Raja Janaka (~5000 BC, Nepal)</a:t>
                      </a:r>
                      <a:endParaRPr sz="1600" b="0" i="0" u="none" strike="noStrike" cap="none">
                        <a:solidFill>
                          <a:schemeClr val="dk1"/>
                        </a:solidFill>
                        <a:latin typeface="Arial"/>
                        <a:ea typeface="Arial"/>
                        <a:cs typeface="Arial"/>
                        <a:sym typeface="Arial"/>
                      </a:endParaRPr>
                    </a:p>
                  </a:txBody>
                  <a:tcPr marL="87625" marR="87625" marT="43800" marB="43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8EDFD">
                        <a:alpha val="0"/>
                      </a:srgbClr>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 sz="1600" u="none" strike="noStrike" cap="none">
                          <a:latin typeface="Arial"/>
                          <a:ea typeface="Arial"/>
                          <a:cs typeface="Arial"/>
                          <a:sym typeface="Arial"/>
                        </a:rPr>
                        <a:t>2. Abraham (~1800 &amp;1600 BC, Mesopotamia)</a:t>
                      </a:r>
                      <a:endParaRPr sz="1400" u="none" strike="noStrike" cap="none"/>
                    </a:p>
                  </a:txBody>
                  <a:tcPr marL="87625" marR="87625" marT="43800" marB="43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2">
                        <a:alpha val="0"/>
                      </a:schemeClr>
                    </a:solidFill>
                  </a:tcPr>
                </a:tc>
                <a:extLst>
                  <a:ext uri="{0D108BD9-81ED-4DB2-BD59-A6C34878D82A}">
                    <a16:rowId xmlns:a16="http://schemas.microsoft.com/office/drawing/2014/main" val="10000"/>
                  </a:ext>
                </a:extLst>
              </a:tr>
              <a:tr h="343750">
                <a:tc>
                  <a:txBody>
                    <a:bodyPr/>
                    <a:lstStyle/>
                    <a:p>
                      <a:pPr marL="0" marR="0" lvl="0" indent="0" algn="l" rtl="0">
                        <a:lnSpc>
                          <a:spcPct val="100000"/>
                        </a:lnSpc>
                        <a:spcBef>
                          <a:spcPts val="0"/>
                        </a:spcBef>
                        <a:spcAft>
                          <a:spcPts val="0"/>
                        </a:spcAft>
                        <a:buClr>
                          <a:srgbClr val="000000"/>
                        </a:buClr>
                        <a:buSzPts val="1600"/>
                        <a:buFont typeface="Arial"/>
                        <a:buNone/>
                      </a:pPr>
                      <a:r>
                        <a:rPr lang="en" sz="1600" u="none" strike="noStrike" cap="none">
                          <a:latin typeface="Arial"/>
                          <a:ea typeface="Arial"/>
                          <a:cs typeface="Arial"/>
                          <a:sym typeface="Arial"/>
                        </a:rPr>
                        <a:t>3. Moses (~1300 BC, Egypt)</a:t>
                      </a:r>
                      <a:endParaRPr sz="1400" u="none" strike="noStrike" cap="none"/>
                    </a:p>
                  </a:txBody>
                  <a:tcPr marL="87625" marR="87625" marT="43800" marB="43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alpha val="0"/>
                      </a:schemeClr>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 sz="1600" u="none" strike="noStrike" cap="none" dirty="0">
                          <a:latin typeface="Arial"/>
                          <a:ea typeface="Arial"/>
                          <a:cs typeface="Arial"/>
                          <a:sym typeface="Arial"/>
                        </a:rPr>
                        <a:t>4. Zarathusthra or Zoroaster (~630 BC, Persia)</a:t>
                      </a:r>
                      <a:endParaRPr sz="1400" u="none" strike="noStrike" cap="none" dirty="0"/>
                    </a:p>
                  </a:txBody>
                  <a:tcPr marL="87625" marR="87625" marT="43800" marB="43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2">
                        <a:alpha val="0"/>
                      </a:schemeClr>
                    </a:solidFill>
                  </a:tcPr>
                </a:tc>
                <a:extLst>
                  <a:ext uri="{0D108BD9-81ED-4DB2-BD59-A6C34878D82A}">
                    <a16:rowId xmlns:a16="http://schemas.microsoft.com/office/drawing/2014/main" val="10001"/>
                  </a:ext>
                </a:extLst>
              </a:tr>
              <a:tr h="343750">
                <a:tc>
                  <a:txBody>
                    <a:bodyPr/>
                    <a:lstStyle/>
                    <a:p>
                      <a:pPr marL="0" marR="0" lvl="0" indent="0" algn="l" rtl="0">
                        <a:lnSpc>
                          <a:spcPct val="100000"/>
                        </a:lnSpc>
                        <a:spcBef>
                          <a:spcPts val="0"/>
                        </a:spcBef>
                        <a:spcAft>
                          <a:spcPts val="0"/>
                        </a:spcAft>
                        <a:buClr>
                          <a:srgbClr val="000000"/>
                        </a:buClr>
                        <a:buSzPts val="1600"/>
                        <a:buFont typeface="Arial"/>
                        <a:buNone/>
                      </a:pPr>
                      <a:r>
                        <a:rPr lang="en" sz="1600" u="none" strike="noStrike" cap="none" dirty="0">
                          <a:latin typeface="Arial"/>
                          <a:ea typeface="Arial"/>
                          <a:cs typeface="Arial"/>
                          <a:sym typeface="Arial"/>
                        </a:rPr>
                        <a:t>5. Lao Zi or Lao Tzu (600 or 500 BC, China)</a:t>
                      </a:r>
                      <a:endParaRPr sz="1400" u="none" strike="noStrike" cap="none" dirty="0"/>
                    </a:p>
                  </a:txBody>
                  <a:tcPr marL="87625" marR="87625" marT="43800" marB="43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alpha val="0"/>
                      </a:schemeClr>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 sz="1600" u="none" strike="noStrike" cap="none">
                          <a:latin typeface="Arial"/>
                          <a:ea typeface="Arial"/>
                          <a:cs typeface="Arial"/>
                          <a:sym typeface="Arial"/>
                        </a:rPr>
                        <a:t>6. Confucius (~551 BC, China)</a:t>
                      </a:r>
                      <a:endParaRPr sz="1400" u="none" strike="noStrike" cap="none"/>
                    </a:p>
                  </a:txBody>
                  <a:tcPr marL="87625" marR="87625" marT="43800" marB="43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2">
                        <a:alpha val="0"/>
                      </a:schemeClr>
                    </a:solidFill>
                  </a:tcPr>
                </a:tc>
                <a:extLst>
                  <a:ext uri="{0D108BD9-81ED-4DB2-BD59-A6C34878D82A}">
                    <a16:rowId xmlns:a16="http://schemas.microsoft.com/office/drawing/2014/main" val="10002"/>
                  </a:ext>
                </a:extLst>
              </a:tr>
              <a:tr h="343750">
                <a:tc>
                  <a:txBody>
                    <a:bodyPr/>
                    <a:lstStyle/>
                    <a:p>
                      <a:pPr marL="0" marR="0" lvl="0" indent="0" algn="l" rtl="0">
                        <a:lnSpc>
                          <a:spcPct val="100000"/>
                        </a:lnSpc>
                        <a:spcBef>
                          <a:spcPts val="0"/>
                        </a:spcBef>
                        <a:spcAft>
                          <a:spcPts val="0"/>
                        </a:spcAft>
                        <a:buClr>
                          <a:srgbClr val="000000"/>
                        </a:buClr>
                        <a:buSzPts val="1600"/>
                        <a:buFont typeface="Arial"/>
                        <a:buNone/>
                      </a:pPr>
                      <a:r>
                        <a:rPr lang="en" sz="1600" u="none" strike="noStrike" cap="none" dirty="0">
                          <a:latin typeface="Arial"/>
                          <a:ea typeface="Arial"/>
                          <a:cs typeface="Arial"/>
                          <a:sym typeface="Arial"/>
                        </a:rPr>
                        <a:t>7. Prophet Muhammad (~570 BC, Mecca) </a:t>
                      </a:r>
                      <a:endParaRPr sz="1400" u="none" strike="noStrike" cap="none" dirty="0"/>
                    </a:p>
                  </a:txBody>
                  <a:tcPr marL="87625" marR="87625" marT="43800" marB="43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alpha val="0"/>
                      </a:schemeClr>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 sz="1600" u="none" strike="noStrike" cap="none" dirty="0">
                          <a:latin typeface="Arial"/>
                          <a:ea typeface="Arial"/>
                          <a:cs typeface="Arial"/>
                          <a:sym typeface="Arial"/>
                        </a:rPr>
                        <a:t>8. Socrates (~470 BC, Greece)</a:t>
                      </a:r>
                      <a:endParaRPr sz="1400" u="none" strike="noStrike" cap="none" dirty="0"/>
                    </a:p>
                  </a:txBody>
                  <a:tcPr marL="87625" marR="87625" marT="43800" marB="43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2">
                        <a:alpha val="0"/>
                      </a:schemeClr>
                    </a:solidFill>
                  </a:tcPr>
                </a:tc>
                <a:extLst>
                  <a:ext uri="{0D108BD9-81ED-4DB2-BD59-A6C34878D82A}">
                    <a16:rowId xmlns:a16="http://schemas.microsoft.com/office/drawing/2014/main" val="10003"/>
                  </a:ext>
                </a:extLst>
              </a:tr>
              <a:tr h="343750">
                <a:tc>
                  <a:txBody>
                    <a:bodyPr/>
                    <a:lstStyle/>
                    <a:p>
                      <a:pPr marL="0" marR="0" lvl="0" indent="0" algn="l" rtl="0">
                        <a:lnSpc>
                          <a:spcPct val="100000"/>
                        </a:lnSpc>
                        <a:spcBef>
                          <a:spcPts val="0"/>
                        </a:spcBef>
                        <a:spcAft>
                          <a:spcPts val="0"/>
                        </a:spcAft>
                        <a:buClr>
                          <a:srgbClr val="000000"/>
                        </a:buClr>
                        <a:buSzPts val="1600"/>
                        <a:buFont typeface="Arial"/>
                        <a:buNone/>
                      </a:pPr>
                      <a:r>
                        <a:rPr lang="en" sz="1600" u="none" strike="noStrike" cap="none" dirty="0">
                          <a:latin typeface="Arial"/>
                          <a:ea typeface="Arial"/>
                          <a:cs typeface="Arial"/>
                          <a:sym typeface="Arial"/>
                        </a:rPr>
                        <a:t>9. Guru Nanak (1469 AD, Punjab in Pakistan)</a:t>
                      </a:r>
                      <a:endParaRPr sz="1400" u="none" strike="noStrike" cap="none" dirty="0"/>
                    </a:p>
                  </a:txBody>
                  <a:tcPr marL="87625" marR="87625" marT="43800" marB="43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alpha val="0"/>
                      </a:schemeClr>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 sz="1600" u="none" strike="noStrike" cap="none" dirty="0">
                          <a:latin typeface="Arial"/>
                          <a:ea typeface="Arial"/>
                          <a:cs typeface="Arial"/>
                          <a:sym typeface="Arial"/>
                        </a:rPr>
                        <a:t>10. Sainath (~1854 AD, India)</a:t>
                      </a:r>
                      <a:endParaRPr sz="1400" u="none" strike="noStrike" cap="none" dirty="0"/>
                    </a:p>
                  </a:txBody>
                  <a:tcPr marL="87625" marR="87625" marT="43800" marB="43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2">
                        <a:alpha val="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a:spLocks noGrp="1"/>
          </p:cNvSpPr>
          <p:nvPr>
            <p:ph type="body" idx="1"/>
          </p:nvPr>
        </p:nvSpPr>
        <p:spPr>
          <a:xfrm>
            <a:off x="0" y="676575"/>
            <a:ext cx="9144000" cy="4466700"/>
          </a:xfrm>
          <a:prstGeom prst="rect">
            <a:avLst/>
          </a:prstGeom>
          <a:noFill/>
          <a:ln>
            <a:noFill/>
          </a:ln>
        </p:spPr>
        <p:txBody>
          <a:bodyPr spcFirstLastPara="1" wrap="square" lIns="91425" tIns="91425" rIns="91425" bIns="91425" anchor="t" anchorCtr="0">
            <a:normAutofit/>
          </a:bodyPr>
          <a:lstStyle/>
          <a:p>
            <a:pPr marL="457200" lvl="0" indent="-330200" algn="just" rtl="0">
              <a:lnSpc>
                <a:spcPct val="115000"/>
              </a:lnSpc>
              <a:spcBef>
                <a:spcPts val="0"/>
              </a:spcBef>
              <a:spcAft>
                <a:spcPts val="0"/>
              </a:spcAft>
              <a:buClr>
                <a:schemeClr val="dk1"/>
              </a:buClr>
              <a:buSzPts val="1600"/>
              <a:buChar char="●"/>
            </a:pPr>
            <a:r>
              <a:rPr lang="en" sz="1600" dirty="0">
                <a:solidFill>
                  <a:schemeClr val="dk1"/>
                </a:solidFill>
              </a:rPr>
              <a:t>Collective meditation is very important because we can feel calmness, easily improve our meditation and learn techniques to keep us in balance. </a:t>
            </a:r>
            <a:endParaRPr lang="en-US" dirty="0"/>
          </a:p>
          <a:p>
            <a:pPr marL="457200" lvl="0" indent="-228600" algn="just" rtl="0">
              <a:lnSpc>
                <a:spcPct val="115000"/>
              </a:lnSpc>
              <a:spcBef>
                <a:spcPts val="0"/>
              </a:spcBef>
              <a:spcAft>
                <a:spcPts val="0"/>
              </a:spcAft>
              <a:buClr>
                <a:schemeClr val="dk1"/>
              </a:buClr>
              <a:buSzPts val="1600"/>
              <a:buNone/>
            </a:pPr>
            <a:endParaRPr lang="en-US" sz="1600" dirty="0"/>
          </a:p>
          <a:p>
            <a:pPr lvl="0" indent="-330200" algn="just">
              <a:buClr>
                <a:schemeClr val="dk1"/>
              </a:buClr>
              <a:buSzPts val="1600"/>
            </a:pPr>
            <a:r>
              <a:rPr lang="en" sz="1600" dirty="0">
                <a:solidFill>
                  <a:schemeClr val="dk1"/>
                </a:solidFill>
              </a:rPr>
              <a:t>This short introductory booklet gives you more details about Sahaja Yoga and how you can meditate everyday - </a:t>
            </a:r>
            <a:r>
              <a:rPr lang="en" sz="1600" u="sng" dirty="0">
                <a:solidFill>
                  <a:schemeClr val="accent5"/>
                </a:solidFill>
                <a:hlinkClick r:id="rId3">
                  <a:extLst>
                    <a:ext uri="{A12FA001-AC4F-418D-AE19-62706E023703}">
                      <ahyp:hlinkClr xmlns:ahyp="http://schemas.microsoft.com/office/drawing/2018/hyperlinkcolor" val="tx"/>
                    </a:ext>
                  </a:extLst>
                </a:hlinkClick>
              </a:rPr>
              <a:t>Meditation-at-Home</a:t>
            </a:r>
            <a:r>
              <a:rPr lang="en" sz="1600" u="sng" dirty="0">
                <a:solidFill>
                  <a:schemeClr val="hlink"/>
                </a:solidFill>
                <a:hlinkClick r:id="rId3"/>
              </a:rPr>
              <a:t>-Booklet</a:t>
            </a:r>
            <a:endParaRPr sz="1600" dirty="0">
              <a:solidFill>
                <a:schemeClr val="dk1"/>
              </a:solidFill>
            </a:endParaRPr>
          </a:p>
          <a:p>
            <a:pPr marL="457200" lvl="0" indent="-228600" algn="just" rtl="0">
              <a:lnSpc>
                <a:spcPct val="115000"/>
              </a:lnSpc>
              <a:spcBef>
                <a:spcPts val="0"/>
              </a:spcBef>
              <a:spcAft>
                <a:spcPts val="0"/>
              </a:spcAft>
              <a:buClr>
                <a:schemeClr val="dk1"/>
              </a:buClr>
              <a:buSzPts val="1600"/>
              <a:buNone/>
            </a:pPr>
            <a:endParaRPr sz="1600" dirty="0">
              <a:solidFill>
                <a:schemeClr val="dk1"/>
              </a:solidFill>
            </a:endParaRPr>
          </a:p>
          <a:p>
            <a:pPr marL="457200" lvl="0" indent="-330200" algn="just" rtl="0">
              <a:lnSpc>
                <a:spcPct val="115000"/>
              </a:lnSpc>
              <a:spcBef>
                <a:spcPts val="0"/>
              </a:spcBef>
              <a:spcAft>
                <a:spcPts val="0"/>
              </a:spcAft>
              <a:buClr>
                <a:schemeClr val="dk1"/>
              </a:buClr>
              <a:buSzPts val="1600"/>
              <a:buChar char="●"/>
            </a:pPr>
            <a:r>
              <a:rPr lang="en" sz="1600" dirty="0">
                <a:solidFill>
                  <a:schemeClr val="dk1"/>
                </a:solidFill>
              </a:rPr>
              <a:t>To attend Sahaja Yoga collective meditation near your location, you can lookup ‘Sahajayoga &lt;city/country&gt; name’ in Google/Meetup. </a:t>
            </a:r>
            <a:endParaRPr sz="1600" dirty="0">
              <a:solidFill>
                <a:schemeClr val="dk1"/>
              </a:solidFill>
            </a:endParaRPr>
          </a:p>
          <a:p>
            <a:pPr marL="457200" lvl="0" indent="-228600" algn="just" rtl="0">
              <a:lnSpc>
                <a:spcPct val="115000"/>
              </a:lnSpc>
              <a:spcBef>
                <a:spcPts val="0"/>
              </a:spcBef>
              <a:spcAft>
                <a:spcPts val="0"/>
              </a:spcAft>
              <a:buClr>
                <a:schemeClr val="dk1"/>
              </a:buClr>
              <a:buSzPts val="1600"/>
              <a:buNone/>
            </a:pPr>
            <a:endParaRPr sz="1600" dirty="0">
              <a:solidFill>
                <a:schemeClr val="dk1"/>
              </a:solidFill>
            </a:endParaRPr>
          </a:p>
          <a:p>
            <a:pPr marL="457200" lvl="0" indent="-330200" algn="just" rtl="0">
              <a:lnSpc>
                <a:spcPct val="115000"/>
              </a:lnSpc>
              <a:spcBef>
                <a:spcPts val="0"/>
              </a:spcBef>
              <a:spcAft>
                <a:spcPts val="0"/>
              </a:spcAft>
              <a:buClr>
                <a:schemeClr val="dk1"/>
              </a:buClr>
              <a:buSzPts val="1600"/>
              <a:buChar char="●"/>
            </a:pPr>
            <a:r>
              <a:rPr lang="en" sz="1600" dirty="0">
                <a:solidFill>
                  <a:schemeClr val="dk1"/>
                </a:solidFill>
              </a:rPr>
              <a:t>More information about Sahaja Yoga and center locations around the world can be found here:</a:t>
            </a:r>
            <a:endParaRPr sz="1600" dirty="0">
              <a:solidFill>
                <a:schemeClr val="dk1"/>
              </a:solidFill>
            </a:endParaRPr>
          </a:p>
          <a:p>
            <a:pPr marL="914400" lvl="1" indent="-330200" algn="just" rtl="0">
              <a:lnSpc>
                <a:spcPct val="115000"/>
              </a:lnSpc>
              <a:spcBef>
                <a:spcPts val="0"/>
              </a:spcBef>
              <a:spcAft>
                <a:spcPts val="0"/>
              </a:spcAft>
              <a:buSzPts val="1600"/>
              <a:buChar char="○"/>
            </a:pPr>
            <a:r>
              <a:rPr lang="en" sz="1600" u="sng" dirty="0">
                <a:solidFill>
                  <a:schemeClr val="hlink"/>
                </a:solidFill>
                <a:hlinkClick r:id="rId4"/>
              </a:rPr>
              <a:t>sahajayoga.org</a:t>
            </a:r>
            <a:endParaRPr sz="1600" dirty="0"/>
          </a:p>
          <a:p>
            <a:pPr marL="914400" lvl="1" indent="-330200" algn="just" rtl="0">
              <a:lnSpc>
                <a:spcPct val="115000"/>
              </a:lnSpc>
              <a:spcBef>
                <a:spcPts val="0"/>
              </a:spcBef>
              <a:spcAft>
                <a:spcPts val="0"/>
              </a:spcAft>
              <a:buSzPts val="1600"/>
              <a:buChar char="○"/>
            </a:pPr>
            <a:r>
              <a:rPr lang="en" sz="1600" u="sng" dirty="0">
                <a:solidFill>
                  <a:schemeClr val="hlink"/>
                </a:solidFill>
                <a:hlinkClick r:id="rId5"/>
              </a:rPr>
              <a:t>freemeditation.com</a:t>
            </a:r>
            <a:endParaRPr sz="1600" u="sng" dirty="0">
              <a:solidFill>
                <a:schemeClr val="hlink"/>
              </a:solidFill>
            </a:endParaRPr>
          </a:p>
          <a:p>
            <a:pPr marL="914400" lvl="1" indent="-330200" algn="just" rtl="0">
              <a:lnSpc>
                <a:spcPct val="115000"/>
              </a:lnSpc>
              <a:spcBef>
                <a:spcPts val="0"/>
              </a:spcBef>
              <a:spcAft>
                <a:spcPts val="0"/>
              </a:spcAft>
              <a:buSzPts val="1600"/>
              <a:buChar char="○"/>
            </a:pPr>
            <a:r>
              <a:rPr lang="en" sz="1600" u="sng" dirty="0">
                <a:solidFill>
                  <a:schemeClr val="hlink"/>
                </a:solidFill>
                <a:hlinkClick r:id="rId6"/>
              </a:rPr>
              <a:t>sahajayoga.org.in</a:t>
            </a:r>
            <a:endParaRPr sz="1600" u="sng" dirty="0">
              <a:solidFill>
                <a:schemeClr val="hlink"/>
              </a:solidFill>
            </a:endParaRPr>
          </a:p>
        </p:txBody>
      </p:sp>
      <p:sp>
        <p:nvSpPr>
          <p:cNvPr id="137" name="Google Shape;137;p7"/>
          <p:cNvSpPr txBox="1">
            <a:spLocks noGrp="1"/>
          </p:cNvSpPr>
          <p:nvPr>
            <p:ph type="title"/>
          </p:nvPr>
        </p:nvSpPr>
        <p:spPr>
          <a:xfrm>
            <a:off x="0" y="0"/>
            <a:ext cx="9144000" cy="572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800"/>
              </a:spcAft>
              <a:buClr>
                <a:schemeClr val="dk1"/>
              </a:buClr>
              <a:buSzPts val="1100"/>
              <a:buFont typeface="Arial"/>
              <a:buNone/>
            </a:pPr>
            <a:r>
              <a:rPr lang="en" sz="3200" b="1" u="sng" dirty="0">
                <a:solidFill>
                  <a:srgbClr val="993F0D"/>
                </a:solidFill>
              </a:rPr>
              <a:t>Collective  meditation &amp; References</a:t>
            </a:r>
            <a:endParaRPr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6"/>
          <p:cNvSpPr txBox="1">
            <a:spLocks noGrp="1"/>
          </p:cNvSpPr>
          <p:nvPr>
            <p:ph type="title"/>
          </p:nvPr>
        </p:nvSpPr>
        <p:spPr>
          <a:xfrm>
            <a:off x="0" y="2090588"/>
            <a:ext cx="9144000" cy="572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800"/>
              </a:spcAft>
              <a:buClr>
                <a:schemeClr val="dk1"/>
              </a:buClr>
              <a:buSzPts val="1100"/>
              <a:buFont typeface="Arial"/>
              <a:buNone/>
            </a:pPr>
            <a:r>
              <a:rPr lang="en" sz="3200" b="1" u="sng" dirty="0">
                <a:solidFill>
                  <a:srgbClr val="993F0D"/>
                </a:solidFill>
              </a:rPr>
              <a:t>Thank you!</a:t>
            </a:r>
            <a:endParaRPr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146"/>
        <p:cNvGrpSpPr/>
        <p:nvPr/>
      </p:nvGrpSpPr>
      <p:grpSpPr>
        <a:xfrm>
          <a:off x="0" y="0"/>
          <a:ext cx="0" cy="0"/>
          <a:chOff x="0" y="0"/>
          <a:chExt cx="0" cy="0"/>
        </a:xfrm>
      </p:grpSpPr>
      <p:sp>
        <p:nvSpPr>
          <p:cNvPr id="147" name="Google Shape;147;p27"/>
          <p:cNvSpPr txBox="1">
            <a:spLocks noGrp="1"/>
          </p:cNvSpPr>
          <p:nvPr>
            <p:ph type="title"/>
          </p:nvPr>
        </p:nvSpPr>
        <p:spPr>
          <a:xfrm>
            <a:off x="0" y="0"/>
            <a:ext cx="9144000" cy="576072"/>
          </a:xfrm>
          <a:prstGeom prst="rect">
            <a:avLst/>
          </a:prstGeom>
          <a:noFill/>
          <a:ln>
            <a:noFill/>
          </a:ln>
        </p:spPr>
        <p:txBody>
          <a:bodyPr spcFirstLastPara="1" wrap="square" lIns="91425" tIns="91425" rIns="91425" bIns="91425" anchor="ctr" anchorCtr="0">
            <a:normAutofit fontScale="90000"/>
          </a:bodyPr>
          <a:lstStyle/>
          <a:p>
            <a:pPr marL="0" lvl="0" indent="0" algn="ctr" rtl="0">
              <a:lnSpc>
                <a:spcPct val="115000"/>
              </a:lnSpc>
              <a:spcBef>
                <a:spcPts val="0"/>
              </a:spcBef>
              <a:spcAft>
                <a:spcPts val="0"/>
              </a:spcAft>
              <a:buClr>
                <a:schemeClr val="dk1"/>
              </a:buClr>
              <a:buSzPct val="30554"/>
              <a:buFont typeface="Arial"/>
              <a:buNone/>
            </a:pPr>
            <a:r>
              <a:rPr lang="en" sz="3600" b="1" i="1" u="sng">
                <a:solidFill>
                  <a:srgbClr val="993F0D"/>
                </a:solidFill>
              </a:rPr>
              <a:t>Old-Experience Self-Realization by Shri Mataji</a:t>
            </a:r>
            <a:endParaRPr sz="3600" b="1" i="1" u="sng">
              <a:solidFill>
                <a:srgbClr val="993F0D"/>
              </a:solidFill>
            </a:endParaRPr>
          </a:p>
        </p:txBody>
      </p:sp>
      <p:sp>
        <p:nvSpPr>
          <p:cNvPr id="148" name="Google Shape;148;p27"/>
          <p:cNvSpPr txBox="1"/>
          <p:nvPr/>
        </p:nvSpPr>
        <p:spPr>
          <a:xfrm>
            <a:off x="2121225" y="1126325"/>
            <a:ext cx="4430100" cy="123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pic>
        <p:nvPicPr>
          <p:cNvPr id="149" name="Google Shape;149;p27" title="HH Shri Mataji Nirmala Devi gives Self Realization - English">
            <a:hlinkClick r:id="rId3"/>
          </p:cNvPr>
          <p:cNvPicPr preferRelativeResize="0"/>
          <p:nvPr/>
        </p:nvPicPr>
        <p:blipFill rotWithShape="1">
          <a:blip r:embed="rId4">
            <a:alphaModFix/>
          </a:blip>
          <a:srcRect/>
          <a:stretch/>
        </p:blipFill>
        <p:spPr>
          <a:xfrm>
            <a:off x="0" y="739461"/>
            <a:ext cx="9143838" cy="440392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fade">
                                      <p:cBhvr>
                                        <p:cTn id="7" dur="10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53"/>
        <p:cNvGrpSpPr/>
        <p:nvPr/>
      </p:nvGrpSpPr>
      <p:grpSpPr>
        <a:xfrm>
          <a:off x="0" y="0"/>
          <a:ext cx="0" cy="0"/>
          <a:chOff x="0" y="0"/>
          <a:chExt cx="0" cy="0"/>
        </a:xfrm>
      </p:grpSpPr>
      <p:sp>
        <p:nvSpPr>
          <p:cNvPr id="154" name="Google Shape;154;p28"/>
          <p:cNvSpPr txBox="1">
            <a:spLocks noGrp="1"/>
          </p:cNvSpPr>
          <p:nvPr>
            <p:ph type="title"/>
          </p:nvPr>
        </p:nvSpPr>
        <p:spPr>
          <a:xfrm>
            <a:off x="0" y="0"/>
            <a:ext cx="91440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86419"/>
              <a:buNone/>
            </a:pPr>
            <a:r>
              <a:rPr lang="en" sz="3600" b="1" i="1" u="sng">
                <a:solidFill>
                  <a:srgbClr val="993F0D"/>
                </a:solidFill>
              </a:rPr>
              <a:t>Old - Chakras, Channels &amp; Self-Realization </a:t>
            </a:r>
            <a:endParaRPr b="1" i="1" u="sng"/>
          </a:p>
          <a:p>
            <a:pPr marL="0" lvl="0" indent="0" algn="l" rtl="0">
              <a:lnSpc>
                <a:spcPct val="100000"/>
              </a:lnSpc>
              <a:spcBef>
                <a:spcPts val="0"/>
              </a:spcBef>
              <a:spcAft>
                <a:spcPts val="0"/>
              </a:spcAft>
              <a:buSzPct val="111111"/>
              <a:buNone/>
            </a:pPr>
            <a:endParaRPr/>
          </a:p>
        </p:txBody>
      </p:sp>
      <p:sp>
        <p:nvSpPr>
          <p:cNvPr id="155" name="Google Shape;155;p28"/>
          <p:cNvSpPr txBox="1">
            <a:spLocks noGrp="1"/>
          </p:cNvSpPr>
          <p:nvPr>
            <p:ph type="body" idx="1"/>
          </p:nvPr>
        </p:nvSpPr>
        <p:spPr>
          <a:xfrm>
            <a:off x="5950" y="560525"/>
            <a:ext cx="4955700" cy="79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600" b="1" u="sng">
                <a:solidFill>
                  <a:schemeClr val="dk1"/>
                </a:solidFill>
              </a:rPr>
              <a:t>Chakras:</a:t>
            </a:r>
            <a:r>
              <a:rPr lang="en" sz="1600" b="1">
                <a:solidFill>
                  <a:schemeClr val="dk1"/>
                </a:solidFill>
              </a:rPr>
              <a:t> </a:t>
            </a:r>
            <a:r>
              <a:rPr lang="en" sz="1600">
                <a:solidFill>
                  <a:schemeClr val="dk1"/>
                </a:solidFill>
              </a:rPr>
              <a:t>Chakras are like energy centers located near different parts of our spinal cord, and control our physical and mental states. Sahaja Yoga guides us on how to take care of our seven chakras: Mooladhara, Swadhisthana, Nabhi (Void), Anahata, Vishuddhi, Agnya, and Sahastrara. When our chakras are in balance, we will be healthy physically and mentally. </a:t>
            </a:r>
            <a:endParaRPr/>
          </a:p>
          <a:p>
            <a:pPr marL="0" lvl="0" indent="0" algn="l" rtl="0">
              <a:lnSpc>
                <a:spcPct val="115000"/>
              </a:lnSpc>
              <a:spcBef>
                <a:spcPts val="1200"/>
              </a:spcBef>
              <a:spcAft>
                <a:spcPts val="0"/>
              </a:spcAft>
              <a:buSzPts val="1800"/>
              <a:buNone/>
            </a:pPr>
            <a:endParaRPr sz="1600">
              <a:solidFill>
                <a:schemeClr val="dk1"/>
              </a:solidFill>
            </a:endParaRPr>
          </a:p>
          <a:p>
            <a:pPr marL="0" lvl="0" indent="0" algn="l" rtl="0">
              <a:lnSpc>
                <a:spcPct val="115000"/>
              </a:lnSpc>
              <a:spcBef>
                <a:spcPts val="1200"/>
              </a:spcBef>
              <a:spcAft>
                <a:spcPts val="1200"/>
              </a:spcAft>
              <a:buSzPts val="1800"/>
              <a:buNone/>
            </a:pPr>
            <a:r>
              <a:rPr lang="en" sz="1600">
                <a:solidFill>
                  <a:schemeClr val="dk1"/>
                </a:solidFill>
              </a:rPr>
              <a:t>.</a:t>
            </a:r>
            <a:endParaRPr sz="1600">
              <a:solidFill>
                <a:schemeClr val="dk1"/>
              </a:solidFill>
            </a:endParaRPr>
          </a:p>
        </p:txBody>
      </p:sp>
      <p:sp>
        <p:nvSpPr>
          <p:cNvPr id="156" name="Google Shape;156;p28"/>
          <p:cNvSpPr txBox="1">
            <a:spLocks noGrp="1"/>
          </p:cNvSpPr>
          <p:nvPr>
            <p:ph type="body" idx="1"/>
          </p:nvPr>
        </p:nvSpPr>
        <p:spPr>
          <a:xfrm>
            <a:off x="5950" y="2766650"/>
            <a:ext cx="4955700" cy="7908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lnSpc>
                <a:spcPct val="115000"/>
              </a:lnSpc>
              <a:spcBef>
                <a:spcPts val="0"/>
              </a:spcBef>
              <a:spcAft>
                <a:spcPts val="1200"/>
              </a:spcAft>
              <a:buSzPct val="143108"/>
              <a:buNone/>
            </a:pPr>
            <a:r>
              <a:rPr lang="en" sz="1600" b="1" u="sng">
                <a:solidFill>
                  <a:schemeClr val="dk1"/>
                </a:solidFill>
              </a:rPr>
              <a:t>Channels:</a:t>
            </a:r>
            <a:r>
              <a:rPr lang="en" sz="1600" b="1">
                <a:solidFill>
                  <a:schemeClr val="dk1"/>
                </a:solidFill>
              </a:rPr>
              <a:t> </a:t>
            </a:r>
            <a:r>
              <a:rPr lang="en" sz="1600">
                <a:solidFill>
                  <a:schemeClr val="dk1"/>
                </a:solidFill>
              </a:rPr>
              <a:t>There are 3 Channels within us which control our past, present and future activities.</a:t>
            </a:r>
            <a:endParaRPr sz="1600">
              <a:solidFill>
                <a:schemeClr val="dk1"/>
              </a:solidFill>
            </a:endParaRPr>
          </a:p>
        </p:txBody>
      </p:sp>
      <p:sp>
        <p:nvSpPr>
          <p:cNvPr id="157" name="Google Shape;157;p28"/>
          <p:cNvSpPr txBox="1">
            <a:spLocks noGrp="1"/>
          </p:cNvSpPr>
          <p:nvPr>
            <p:ph type="body" idx="1"/>
          </p:nvPr>
        </p:nvSpPr>
        <p:spPr>
          <a:xfrm>
            <a:off x="0" y="3311125"/>
            <a:ext cx="4955700" cy="1019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2118"/>
              <a:buNone/>
            </a:pPr>
            <a:r>
              <a:rPr lang="en" sz="1600" b="1" u="sng">
                <a:solidFill>
                  <a:schemeClr val="dk1"/>
                </a:solidFill>
              </a:rPr>
              <a:t>Kundalini energy:</a:t>
            </a:r>
            <a:r>
              <a:rPr lang="en" sz="1600">
                <a:solidFill>
                  <a:schemeClr val="dk1"/>
                </a:solidFill>
              </a:rPr>
              <a:t> Kundalini energy is motherly energy inside us. It’s in the bottom of the spinal cord in a triangular bone.</a:t>
            </a:r>
            <a:endParaRPr sz="1600">
              <a:solidFill>
                <a:schemeClr val="dk1"/>
              </a:solidFill>
            </a:endParaRPr>
          </a:p>
        </p:txBody>
      </p:sp>
      <p:sp>
        <p:nvSpPr>
          <p:cNvPr id="158" name="Google Shape;158;p28"/>
          <p:cNvSpPr txBox="1">
            <a:spLocks noGrp="1"/>
          </p:cNvSpPr>
          <p:nvPr>
            <p:ph type="body" idx="1"/>
          </p:nvPr>
        </p:nvSpPr>
        <p:spPr>
          <a:xfrm>
            <a:off x="6100" y="4150825"/>
            <a:ext cx="9079800" cy="79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800"/>
              <a:buNone/>
            </a:pPr>
            <a:r>
              <a:rPr lang="en" sz="1600" b="1" u="sng">
                <a:solidFill>
                  <a:schemeClr val="dk1"/>
                </a:solidFill>
              </a:rPr>
              <a:t>Self-Realization:</a:t>
            </a:r>
            <a:r>
              <a:rPr lang="en" sz="1600">
                <a:solidFill>
                  <a:schemeClr val="dk1"/>
                </a:solidFill>
              </a:rPr>
              <a:t> When our Kundalini energy rises, and passes through all the chakras, and reaches the chakra on top of our head, and gets connected with the divine energy around us, this is called Self-Realization. We can feel this in our hands, and on top of our head as a cool breeze.</a:t>
            </a:r>
            <a:endParaRPr sz="1600">
              <a:solidFill>
                <a:schemeClr val="dk1"/>
              </a:solidFill>
            </a:endParaRPr>
          </a:p>
        </p:txBody>
      </p:sp>
      <p:pic>
        <p:nvPicPr>
          <p:cNvPr id="159" name="Google Shape;159;p28" descr="Image"/>
          <p:cNvPicPr preferRelativeResize="0"/>
          <p:nvPr/>
        </p:nvPicPr>
        <p:blipFill rotWithShape="1">
          <a:blip r:embed="rId3">
            <a:alphaModFix/>
          </a:blip>
          <a:srcRect/>
          <a:stretch/>
        </p:blipFill>
        <p:spPr>
          <a:xfrm>
            <a:off x="4834900" y="1007250"/>
            <a:ext cx="4250998" cy="30204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63"/>
        <p:cNvGrpSpPr/>
        <p:nvPr/>
      </p:nvGrpSpPr>
      <p:grpSpPr>
        <a:xfrm>
          <a:off x="0" y="0"/>
          <a:ext cx="0" cy="0"/>
          <a:chOff x="0" y="0"/>
          <a:chExt cx="0" cy="0"/>
        </a:xfrm>
      </p:grpSpPr>
      <p:sp>
        <p:nvSpPr>
          <p:cNvPr id="164" name="Google Shape;164;p3"/>
          <p:cNvSpPr txBox="1">
            <a:spLocks noGrp="1"/>
          </p:cNvSpPr>
          <p:nvPr>
            <p:ph type="title"/>
          </p:nvPr>
        </p:nvSpPr>
        <p:spPr>
          <a:xfrm>
            <a:off x="0" y="0"/>
            <a:ext cx="91440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86419"/>
              <a:buNone/>
            </a:pPr>
            <a:r>
              <a:rPr lang="en" sz="3600" b="1" u="sng">
                <a:solidFill>
                  <a:srgbClr val="993F0D"/>
                </a:solidFill>
              </a:rPr>
              <a:t>Old - Chakras and Channels</a:t>
            </a:r>
            <a:endParaRPr b="1" u="sng"/>
          </a:p>
          <a:p>
            <a:pPr marL="0" lvl="0" indent="0" algn="l" rtl="0">
              <a:lnSpc>
                <a:spcPct val="100000"/>
              </a:lnSpc>
              <a:spcBef>
                <a:spcPts val="0"/>
              </a:spcBef>
              <a:spcAft>
                <a:spcPts val="0"/>
              </a:spcAft>
              <a:buSzPct val="111111"/>
              <a:buNone/>
            </a:pPr>
            <a:endParaRPr/>
          </a:p>
        </p:txBody>
      </p:sp>
      <p:sp>
        <p:nvSpPr>
          <p:cNvPr id="165" name="Google Shape;165;p3"/>
          <p:cNvSpPr txBox="1">
            <a:spLocks noGrp="1"/>
          </p:cNvSpPr>
          <p:nvPr>
            <p:ph type="body" idx="1"/>
          </p:nvPr>
        </p:nvSpPr>
        <p:spPr>
          <a:xfrm>
            <a:off x="219456" y="621900"/>
            <a:ext cx="5028405" cy="314457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600" b="1" u="sng">
                <a:solidFill>
                  <a:schemeClr val="dk1"/>
                </a:solidFill>
              </a:rPr>
              <a:t>Chakras:</a:t>
            </a:r>
            <a:r>
              <a:rPr lang="en" sz="1600" b="1">
                <a:solidFill>
                  <a:schemeClr val="dk1"/>
                </a:solidFill>
              </a:rPr>
              <a:t> </a:t>
            </a:r>
            <a:endParaRPr/>
          </a:p>
          <a:p>
            <a:pPr marL="285750" lvl="0" indent="-285750" algn="l" rtl="0">
              <a:lnSpc>
                <a:spcPct val="115000"/>
              </a:lnSpc>
              <a:spcBef>
                <a:spcPts val="0"/>
              </a:spcBef>
              <a:spcAft>
                <a:spcPts val="0"/>
              </a:spcAft>
              <a:buClr>
                <a:schemeClr val="dk1"/>
              </a:buClr>
              <a:buSzPts val="1800"/>
              <a:buChar char="●"/>
            </a:pPr>
            <a:r>
              <a:rPr lang="en" sz="1600">
                <a:solidFill>
                  <a:schemeClr val="dk1"/>
                </a:solidFill>
              </a:rPr>
              <a:t>Chakras are like energy centers located near different parts of our spinal cord, and control our physical and mental states. </a:t>
            </a:r>
            <a:endParaRPr/>
          </a:p>
          <a:p>
            <a:pPr marL="285750" lvl="0" indent="-285750" algn="l" rtl="0">
              <a:lnSpc>
                <a:spcPct val="115000"/>
              </a:lnSpc>
              <a:spcBef>
                <a:spcPts val="0"/>
              </a:spcBef>
              <a:spcAft>
                <a:spcPts val="0"/>
              </a:spcAft>
              <a:buClr>
                <a:schemeClr val="dk1"/>
              </a:buClr>
              <a:buSzPts val="1800"/>
              <a:buChar char="●"/>
            </a:pPr>
            <a:r>
              <a:rPr lang="en" sz="1600">
                <a:solidFill>
                  <a:schemeClr val="dk1"/>
                </a:solidFill>
              </a:rPr>
              <a:t>Sahaja Yoga guides us on how to take care of our seven chakras: </a:t>
            </a:r>
            <a:endParaRPr/>
          </a:p>
          <a:p>
            <a:pPr marL="742950" lvl="1" indent="-285750" algn="l" rtl="0">
              <a:lnSpc>
                <a:spcPct val="115000"/>
              </a:lnSpc>
              <a:spcBef>
                <a:spcPts val="0"/>
              </a:spcBef>
              <a:spcAft>
                <a:spcPts val="0"/>
              </a:spcAft>
              <a:buClr>
                <a:schemeClr val="dk1"/>
              </a:buClr>
              <a:buSzPts val="1400"/>
              <a:buChar char="○"/>
            </a:pPr>
            <a:r>
              <a:rPr lang="en" sz="1600">
                <a:solidFill>
                  <a:schemeClr val="dk1"/>
                </a:solidFill>
              </a:rPr>
              <a:t>Mooladhara, Swadhisthana, Nabhi (Void), Anahata, Vishuddhi, Agnya, and Sahastrara. </a:t>
            </a:r>
            <a:endParaRPr/>
          </a:p>
          <a:p>
            <a:pPr marL="285750" lvl="0" indent="-285750" algn="l" rtl="0">
              <a:lnSpc>
                <a:spcPct val="115000"/>
              </a:lnSpc>
              <a:spcBef>
                <a:spcPts val="0"/>
              </a:spcBef>
              <a:spcAft>
                <a:spcPts val="0"/>
              </a:spcAft>
              <a:buClr>
                <a:schemeClr val="dk1"/>
              </a:buClr>
              <a:buSzPts val="1800"/>
              <a:buChar char="●"/>
            </a:pPr>
            <a:r>
              <a:rPr lang="en" sz="1600">
                <a:solidFill>
                  <a:schemeClr val="dk1"/>
                </a:solidFill>
              </a:rPr>
              <a:t>Each When our chakras are in balance, we will be healthy physically and mentally. </a:t>
            </a:r>
            <a:endParaRPr/>
          </a:p>
        </p:txBody>
      </p:sp>
      <p:pic>
        <p:nvPicPr>
          <p:cNvPr id="166" name="Google Shape;166;p3" descr="Image"/>
          <p:cNvPicPr preferRelativeResize="0"/>
          <p:nvPr/>
        </p:nvPicPr>
        <p:blipFill rotWithShape="1">
          <a:blip r:embed="rId3">
            <a:alphaModFix/>
          </a:blip>
          <a:srcRect/>
          <a:stretch/>
        </p:blipFill>
        <p:spPr>
          <a:xfrm>
            <a:off x="5152445" y="889555"/>
            <a:ext cx="3982866" cy="2623241"/>
          </a:xfrm>
          <a:prstGeom prst="rect">
            <a:avLst/>
          </a:prstGeom>
          <a:noFill/>
          <a:ln>
            <a:noFill/>
          </a:ln>
        </p:spPr>
      </p:pic>
      <p:sp>
        <p:nvSpPr>
          <p:cNvPr id="167" name="Google Shape;167;p3"/>
          <p:cNvSpPr txBox="1"/>
          <p:nvPr/>
        </p:nvSpPr>
        <p:spPr>
          <a:xfrm>
            <a:off x="219456" y="3513768"/>
            <a:ext cx="9006601" cy="195538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 sz="1600" b="1" i="0" u="sng" strike="noStrike" cap="none">
                <a:solidFill>
                  <a:schemeClr val="dk1"/>
                </a:solidFill>
                <a:latin typeface="Arial"/>
                <a:ea typeface="Arial"/>
                <a:cs typeface="Arial"/>
                <a:sym typeface="Arial"/>
              </a:rPr>
              <a:t>Channels:</a:t>
            </a:r>
            <a:r>
              <a:rPr lang="en" sz="1600" b="1"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285750" marR="0" lvl="0" indent="-285750" algn="l" rtl="0">
              <a:lnSpc>
                <a:spcPct val="115000"/>
              </a:lnSpc>
              <a:spcBef>
                <a:spcPts val="0"/>
              </a:spcBef>
              <a:spcAft>
                <a:spcPts val="0"/>
              </a:spcAft>
              <a:buClr>
                <a:schemeClr val="dk1"/>
              </a:buClr>
              <a:buSzPts val="1800"/>
              <a:buFont typeface="Arial"/>
              <a:buChar char="●"/>
            </a:pPr>
            <a:r>
              <a:rPr lang="en" sz="1600" b="0" i="0" u="none" strike="noStrike" cap="none">
                <a:solidFill>
                  <a:schemeClr val="dk1"/>
                </a:solidFill>
                <a:latin typeface="Arial"/>
                <a:ea typeface="Arial"/>
                <a:cs typeface="Arial"/>
                <a:sym typeface="Arial"/>
              </a:rPr>
              <a:t> There are 3 Channels within us which control our past, present and future activities.  </a:t>
            </a:r>
            <a:endParaRPr sz="1400" b="0" i="0" u="none" strike="noStrike" cap="none">
              <a:solidFill>
                <a:srgbClr val="000000"/>
              </a:solidFill>
              <a:latin typeface="Arial"/>
              <a:ea typeface="Arial"/>
              <a:cs typeface="Arial"/>
              <a:sym typeface="Arial"/>
            </a:endParaRPr>
          </a:p>
          <a:p>
            <a:pPr marL="742950" marR="0" lvl="1" indent="-285750" algn="l" rtl="0">
              <a:lnSpc>
                <a:spcPct val="115000"/>
              </a:lnSpc>
              <a:spcBef>
                <a:spcPts val="0"/>
              </a:spcBef>
              <a:spcAft>
                <a:spcPts val="0"/>
              </a:spcAft>
              <a:buClr>
                <a:schemeClr val="dk1"/>
              </a:buClr>
              <a:buSzPts val="1400"/>
              <a:buFont typeface="Arial"/>
              <a:buChar char="○"/>
            </a:pPr>
            <a:r>
              <a:rPr lang="en" sz="1600" b="0" i="0" u="none" strike="noStrike" cap="none">
                <a:solidFill>
                  <a:schemeClr val="dk1"/>
                </a:solidFill>
                <a:latin typeface="Arial"/>
                <a:ea typeface="Arial"/>
                <a:cs typeface="Arial"/>
                <a:sym typeface="Arial"/>
              </a:rPr>
              <a:t>Left channel (Past) – Takes care of our desires, emotions and feelings.</a:t>
            </a:r>
            <a:endParaRPr sz="1400" b="0" i="0" u="none" strike="noStrike" cap="none">
              <a:solidFill>
                <a:srgbClr val="000000"/>
              </a:solidFill>
              <a:latin typeface="Arial"/>
              <a:ea typeface="Arial"/>
              <a:cs typeface="Arial"/>
              <a:sym typeface="Arial"/>
            </a:endParaRPr>
          </a:p>
          <a:p>
            <a:pPr marL="742950" marR="0" lvl="1" indent="-285750" algn="l" rtl="0">
              <a:lnSpc>
                <a:spcPct val="115000"/>
              </a:lnSpc>
              <a:spcBef>
                <a:spcPts val="0"/>
              </a:spcBef>
              <a:spcAft>
                <a:spcPts val="0"/>
              </a:spcAft>
              <a:buClr>
                <a:schemeClr val="dk1"/>
              </a:buClr>
              <a:buSzPts val="1400"/>
              <a:buFont typeface="Arial"/>
              <a:buChar char="○"/>
            </a:pPr>
            <a:r>
              <a:rPr lang="en" sz="1600" b="0" i="0" u="none" strike="noStrike" cap="none">
                <a:solidFill>
                  <a:schemeClr val="dk1"/>
                </a:solidFill>
                <a:latin typeface="Arial"/>
                <a:ea typeface="Arial"/>
                <a:cs typeface="Arial"/>
                <a:sym typeface="Arial"/>
              </a:rPr>
              <a:t>Right channel (Future) – Takes care of our planning, physical and mental activities. </a:t>
            </a:r>
            <a:endParaRPr sz="1400" b="0" i="0" u="none" strike="noStrike" cap="none">
              <a:solidFill>
                <a:srgbClr val="000000"/>
              </a:solidFill>
              <a:latin typeface="Arial"/>
              <a:ea typeface="Arial"/>
              <a:cs typeface="Arial"/>
              <a:sym typeface="Arial"/>
            </a:endParaRPr>
          </a:p>
          <a:p>
            <a:pPr marL="742950" marR="0" lvl="1" indent="-285750" algn="l" rtl="0">
              <a:lnSpc>
                <a:spcPct val="115000"/>
              </a:lnSpc>
              <a:spcBef>
                <a:spcPts val="0"/>
              </a:spcBef>
              <a:spcAft>
                <a:spcPts val="0"/>
              </a:spcAft>
              <a:buClr>
                <a:schemeClr val="dk1"/>
              </a:buClr>
              <a:buSzPts val="1400"/>
              <a:buFont typeface="Arial"/>
              <a:buChar char="○"/>
            </a:pPr>
            <a:r>
              <a:rPr lang="en" sz="1600" b="0" i="0" u="none" strike="noStrike" cap="none">
                <a:solidFill>
                  <a:schemeClr val="dk1"/>
                </a:solidFill>
                <a:latin typeface="Arial"/>
                <a:ea typeface="Arial"/>
                <a:cs typeface="Arial"/>
                <a:sym typeface="Arial"/>
              </a:rPr>
              <a:t>Center Channel (Present) – Takes care of our spiritual growth and maintaining balance.</a:t>
            </a:r>
            <a:endParaRPr sz="1600" b="0" i="0" u="none" strike="noStrike" cap="none">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71"/>
        <p:cNvGrpSpPr/>
        <p:nvPr/>
      </p:nvGrpSpPr>
      <p:grpSpPr>
        <a:xfrm>
          <a:off x="0" y="0"/>
          <a:ext cx="0" cy="0"/>
          <a:chOff x="0" y="0"/>
          <a:chExt cx="0" cy="0"/>
        </a:xfrm>
      </p:grpSpPr>
      <p:sp>
        <p:nvSpPr>
          <p:cNvPr id="172" name="Google Shape;172;p29"/>
          <p:cNvSpPr txBox="1">
            <a:spLocks noGrp="1"/>
          </p:cNvSpPr>
          <p:nvPr>
            <p:ph type="title"/>
          </p:nvPr>
        </p:nvSpPr>
        <p:spPr>
          <a:xfrm>
            <a:off x="-1" y="0"/>
            <a:ext cx="9144000" cy="57607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3200" b="1" i="1" u="sng">
                <a:solidFill>
                  <a:srgbClr val="993F0D"/>
                </a:solidFill>
              </a:rPr>
              <a:t>Old - Bandhan (uppy uppy), and foot-soaking:</a:t>
            </a:r>
            <a:endParaRPr sz="3200" b="1" i="1" u="sng">
              <a:solidFill>
                <a:srgbClr val="993F0D"/>
              </a:solidFill>
            </a:endParaRPr>
          </a:p>
        </p:txBody>
      </p:sp>
      <p:sp>
        <p:nvSpPr>
          <p:cNvPr id="173" name="Google Shape;173;p29"/>
          <p:cNvSpPr txBox="1">
            <a:spLocks noGrp="1"/>
          </p:cNvSpPr>
          <p:nvPr>
            <p:ph type="body" idx="1"/>
          </p:nvPr>
        </p:nvSpPr>
        <p:spPr>
          <a:xfrm>
            <a:off x="0" y="651600"/>
            <a:ext cx="4572000" cy="4491900"/>
          </a:xfrm>
          <a:prstGeom prst="rect">
            <a:avLst/>
          </a:prstGeom>
          <a:noFill/>
          <a:ln>
            <a:noFill/>
          </a:ln>
        </p:spPr>
        <p:txBody>
          <a:bodyPr spcFirstLastPara="1" wrap="square" lIns="91425" tIns="91425" rIns="91425" bIns="91425" anchor="t" anchorCtr="0">
            <a:normAutofit lnSpcReduction="10000"/>
          </a:bodyPr>
          <a:lstStyle/>
          <a:p>
            <a:pPr marL="146050" lvl="0" indent="0" algn="l" rtl="0">
              <a:lnSpc>
                <a:spcPct val="115000"/>
              </a:lnSpc>
              <a:spcBef>
                <a:spcPts val="0"/>
              </a:spcBef>
              <a:spcAft>
                <a:spcPts val="0"/>
              </a:spcAft>
              <a:buClr>
                <a:schemeClr val="dk1"/>
              </a:buClr>
              <a:buSzPts val="1300"/>
              <a:buNone/>
            </a:pPr>
            <a:r>
              <a:rPr lang="en" sz="1300" b="1" i="1" u="sng">
                <a:solidFill>
                  <a:schemeClr val="dk1"/>
                </a:solidFill>
              </a:rPr>
              <a:t>Bandhan:</a:t>
            </a:r>
            <a:endParaRPr/>
          </a:p>
          <a:p>
            <a:pPr marL="431800" lvl="0" indent="-285750" algn="l" rtl="0">
              <a:lnSpc>
                <a:spcPct val="115000"/>
              </a:lnSpc>
              <a:spcBef>
                <a:spcPts val="0"/>
              </a:spcBef>
              <a:spcAft>
                <a:spcPts val="0"/>
              </a:spcAft>
              <a:buClr>
                <a:schemeClr val="dk1"/>
              </a:buClr>
              <a:buSzPts val="1300"/>
              <a:buChar char="●"/>
            </a:pPr>
            <a:r>
              <a:rPr lang="en" sz="1300">
                <a:solidFill>
                  <a:schemeClr val="dk1"/>
                </a:solidFill>
              </a:rPr>
              <a:t>Bandhan means rising our Kundalini energy</a:t>
            </a:r>
            <a:endParaRPr/>
          </a:p>
          <a:p>
            <a:pPr marL="431800" lvl="0" indent="-285750" algn="l" rtl="0">
              <a:lnSpc>
                <a:spcPct val="115000"/>
              </a:lnSpc>
              <a:spcBef>
                <a:spcPts val="0"/>
              </a:spcBef>
              <a:spcAft>
                <a:spcPts val="0"/>
              </a:spcAft>
              <a:buClr>
                <a:schemeClr val="dk1"/>
              </a:buClr>
              <a:buSzPts val="1300"/>
              <a:buChar char="●"/>
            </a:pPr>
            <a:r>
              <a:rPr lang="en" sz="1300">
                <a:solidFill>
                  <a:schemeClr val="dk1"/>
                </a:solidFill>
              </a:rPr>
              <a:t>We follow the steps below to rise our Kundalini energy in a bandhan:</a:t>
            </a:r>
            <a:endParaRPr sz="1300">
              <a:solidFill>
                <a:schemeClr val="dk1"/>
              </a:solidFill>
            </a:endParaRPr>
          </a:p>
          <a:p>
            <a:pPr marL="889000" lvl="1" indent="-285750" algn="l" rtl="0">
              <a:lnSpc>
                <a:spcPct val="115000"/>
              </a:lnSpc>
              <a:spcBef>
                <a:spcPts val="0"/>
              </a:spcBef>
              <a:spcAft>
                <a:spcPts val="0"/>
              </a:spcAft>
              <a:buClr>
                <a:schemeClr val="dk1"/>
              </a:buClr>
              <a:buSzPts val="1300"/>
              <a:buChar char="○"/>
            </a:pPr>
            <a:r>
              <a:rPr lang="en" sz="1300">
                <a:solidFill>
                  <a:schemeClr val="dk1"/>
                </a:solidFill>
              </a:rPr>
              <a:t>Firstly, we keep our palms in facing us near the first chakra. </a:t>
            </a:r>
            <a:endParaRPr/>
          </a:p>
          <a:p>
            <a:pPr marL="889000" lvl="1" indent="-285750" algn="l" rtl="0">
              <a:lnSpc>
                <a:spcPct val="115000"/>
              </a:lnSpc>
              <a:spcBef>
                <a:spcPts val="0"/>
              </a:spcBef>
              <a:spcAft>
                <a:spcPts val="0"/>
              </a:spcAft>
              <a:buClr>
                <a:schemeClr val="dk1"/>
              </a:buClr>
              <a:buSzPts val="1300"/>
              <a:buChar char="○"/>
            </a:pPr>
            <a:r>
              <a:rPr lang="en" sz="1300">
                <a:solidFill>
                  <a:schemeClr val="dk1"/>
                </a:solidFill>
              </a:rPr>
              <a:t>We move left palm from bottom of spine to top of our head. While doing this, the right palm moves around the left palm like making a circle around it (clock-wise direction).  </a:t>
            </a:r>
            <a:endParaRPr sz="1300">
              <a:solidFill>
                <a:schemeClr val="dk1"/>
              </a:solidFill>
            </a:endParaRPr>
          </a:p>
          <a:p>
            <a:pPr marL="889000" lvl="1" indent="-285750" algn="l" rtl="0">
              <a:lnSpc>
                <a:spcPct val="115000"/>
              </a:lnSpc>
              <a:spcBef>
                <a:spcPts val="0"/>
              </a:spcBef>
              <a:spcAft>
                <a:spcPts val="0"/>
              </a:spcAft>
              <a:buClr>
                <a:schemeClr val="dk1"/>
              </a:buClr>
              <a:buSzPts val="1300"/>
              <a:buChar char="○"/>
            </a:pPr>
            <a:r>
              <a:rPr lang="en" sz="1300">
                <a:solidFill>
                  <a:schemeClr val="dk1"/>
                </a:solidFill>
              </a:rPr>
              <a:t>We do the above step 3 times and we tie 1 knot on top of head for the first time, 2 knots the second time, and 3 knots third time.</a:t>
            </a:r>
            <a:endParaRPr/>
          </a:p>
          <a:p>
            <a:pPr marL="889000" lvl="1" indent="-285750" algn="l" rtl="0">
              <a:lnSpc>
                <a:spcPct val="115000"/>
              </a:lnSpc>
              <a:spcBef>
                <a:spcPts val="0"/>
              </a:spcBef>
              <a:spcAft>
                <a:spcPts val="0"/>
              </a:spcAft>
              <a:buClr>
                <a:schemeClr val="dk1"/>
              </a:buClr>
              <a:buSzPts val="1300"/>
              <a:buChar char="○"/>
            </a:pPr>
            <a:r>
              <a:rPr lang="en" sz="1300">
                <a:solidFill>
                  <a:schemeClr val="dk1"/>
                </a:solidFill>
              </a:rPr>
              <a:t>We now keep our left hand open on our lap and  move the right hand from left hand to top of our head and then to the right like making a rainbow and then move back the same way from right side to left side. </a:t>
            </a:r>
            <a:endParaRPr sz="1300">
              <a:solidFill>
                <a:schemeClr val="dk1"/>
              </a:solidFill>
            </a:endParaRPr>
          </a:p>
          <a:p>
            <a:pPr marL="889000" lvl="1" indent="-285750" algn="l" rtl="0">
              <a:lnSpc>
                <a:spcPct val="115000"/>
              </a:lnSpc>
              <a:spcBef>
                <a:spcPts val="0"/>
              </a:spcBef>
              <a:spcAft>
                <a:spcPts val="0"/>
              </a:spcAft>
              <a:buClr>
                <a:schemeClr val="dk1"/>
              </a:buClr>
              <a:buSzPts val="1300"/>
              <a:buChar char="○"/>
            </a:pPr>
            <a:r>
              <a:rPr lang="en" sz="1300">
                <a:solidFill>
                  <a:schemeClr val="dk1"/>
                </a:solidFill>
              </a:rPr>
              <a:t>We repeat the above step 7 times. </a:t>
            </a:r>
            <a:endParaRPr sz="1300">
              <a:solidFill>
                <a:schemeClr val="dk1"/>
              </a:solidFill>
            </a:endParaRPr>
          </a:p>
        </p:txBody>
      </p:sp>
      <p:sp>
        <p:nvSpPr>
          <p:cNvPr id="174" name="Google Shape;174;p29"/>
          <p:cNvSpPr txBox="1"/>
          <p:nvPr/>
        </p:nvSpPr>
        <p:spPr>
          <a:xfrm>
            <a:off x="4572000" y="649185"/>
            <a:ext cx="4572000" cy="4491900"/>
          </a:xfrm>
          <a:prstGeom prst="rect">
            <a:avLst/>
          </a:prstGeom>
          <a:noFill/>
          <a:ln>
            <a:noFill/>
          </a:ln>
        </p:spPr>
        <p:txBody>
          <a:bodyPr spcFirstLastPara="1" wrap="square" lIns="91425" tIns="91425" rIns="91425" bIns="91425" anchor="t" anchorCtr="0">
            <a:normAutofit/>
          </a:bodyPr>
          <a:lstStyle/>
          <a:p>
            <a:pPr marL="146050" marR="0" lvl="0" indent="0" algn="l" rtl="0">
              <a:lnSpc>
                <a:spcPct val="115000"/>
              </a:lnSpc>
              <a:spcBef>
                <a:spcPts val="0"/>
              </a:spcBef>
              <a:spcAft>
                <a:spcPts val="0"/>
              </a:spcAft>
              <a:buClr>
                <a:schemeClr val="dk1"/>
              </a:buClr>
              <a:buSzPts val="1300"/>
              <a:buFont typeface="Arial"/>
              <a:buNone/>
            </a:pPr>
            <a:r>
              <a:rPr lang="en" sz="1300" b="1" i="1" u="sng" strike="noStrike" cap="none">
                <a:solidFill>
                  <a:schemeClr val="dk1"/>
                </a:solidFill>
                <a:latin typeface="Arial"/>
                <a:ea typeface="Arial"/>
                <a:cs typeface="Arial"/>
                <a:sym typeface="Arial"/>
              </a:rPr>
              <a:t>Foot-Soaking:</a:t>
            </a:r>
            <a:endParaRPr sz="1400" b="0" i="0" u="none" strike="noStrike" cap="none">
              <a:solidFill>
                <a:srgbClr val="000000"/>
              </a:solidFill>
              <a:latin typeface="Arial"/>
              <a:ea typeface="Arial"/>
              <a:cs typeface="Arial"/>
              <a:sym typeface="Arial"/>
            </a:endParaRPr>
          </a:p>
          <a:p>
            <a:pPr marL="431800" marR="0" lvl="0" indent="-285750" algn="l" rtl="0">
              <a:lnSpc>
                <a:spcPct val="115000"/>
              </a:lnSpc>
              <a:spcBef>
                <a:spcPts val="0"/>
              </a:spcBef>
              <a:spcAft>
                <a:spcPts val="0"/>
              </a:spcAft>
              <a:buClr>
                <a:schemeClr val="dk1"/>
              </a:buClr>
              <a:buSzPts val="1300"/>
              <a:buFont typeface="Arial"/>
              <a:buChar char="●"/>
            </a:pPr>
            <a:r>
              <a:rPr lang="en" sz="1300" b="0" i="0" u="none" strike="noStrike" cap="none">
                <a:solidFill>
                  <a:schemeClr val="dk1"/>
                </a:solidFill>
                <a:latin typeface="Arial"/>
                <a:ea typeface="Arial"/>
                <a:cs typeface="Arial"/>
                <a:sym typeface="Arial"/>
              </a:rPr>
              <a:t>Foot soaking is a method to cleanse our inner being using water element.   </a:t>
            </a:r>
            <a:endParaRPr sz="1400" b="0" i="0" u="none" strike="noStrike" cap="none">
              <a:solidFill>
                <a:srgbClr val="000000"/>
              </a:solidFill>
              <a:latin typeface="Arial"/>
              <a:ea typeface="Arial"/>
              <a:cs typeface="Arial"/>
              <a:sym typeface="Arial"/>
            </a:endParaRPr>
          </a:p>
          <a:p>
            <a:pPr marL="431800" marR="0" lvl="0" indent="-285750" algn="l" rtl="0">
              <a:lnSpc>
                <a:spcPct val="115000"/>
              </a:lnSpc>
              <a:spcBef>
                <a:spcPts val="0"/>
              </a:spcBef>
              <a:spcAft>
                <a:spcPts val="0"/>
              </a:spcAft>
              <a:buClr>
                <a:schemeClr val="dk1"/>
              </a:buClr>
              <a:buSzPts val="1300"/>
              <a:buFont typeface="Arial"/>
              <a:buChar char="●"/>
            </a:pPr>
            <a:r>
              <a:rPr lang="en" sz="1300" b="0" i="0" u="none" strike="noStrike" cap="none">
                <a:solidFill>
                  <a:schemeClr val="dk1"/>
                </a:solidFill>
                <a:latin typeface="Arial"/>
                <a:ea typeface="Arial"/>
                <a:cs typeface="Arial"/>
                <a:sym typeface="Arial"/>
              </a:rPr>
              <a:t>We follow the steps mentioned below to perform Foot-Soaking:</a:t>
            </a:r>
            <a:endParaRPr sz="1400" b="0" i="0" u="none" strike="noStrike" cap="none">
              <a:solidFill>
                <a:srgbClr val="000000"/>
              </a:solidFill>
              <a:latin typeface="Arial"/>
              <a:ea typeface="Arial"/>
              <a:cs typeface="Arial"/>
              <a:sym typeface="Arial"/>
            </a:endParaRPr>
          </a:p>
          <a:p>
            <a:pPr marL="889000" marR="0" lvl="1" indent="-285750" algn="l" rtl="0">
              <a:lnSpc>
                <a:spcPct val="115000"/>
              </a:lnSpc>
              <a:spcBef>
                <a:spcPts val="0"/>
              </a:spcBef>
              <a:spcAft>
                <a:spcPts val="0"/>
              </a:spcAft>
              <a:buClr>
                <a:schemeClr val="dk1"/>
              </a:buClr>
              <a:buSzPts val="1300"/>
              <a:buFont typeface="Arial"/>
              <a:buChar char="○"/>
            </a:pPr>
            <a:r>
              <a:rPr lang="en" sz="1300" b="0" i="0" u="none" strike="noStrike" cap="none">
                <a:solidFill>
                  <a:schemeClr val="dk1"/>
                </a:solidFill>
                <a:latin typeface="Arial"/>
                <a:ea typeface="Arial"/>
                <a:cs typeface="Arial"/>
                <a:sym typeface="Arial"/>
              </a:rPr>
              <a:t>We fill a tub with  clean water and add salt to it.</a:t>
            </a:r>
            <a:endParaRPr sz="1400" b="0" i="0" u="none" strike="noStrike" cap="none">
              <a:solidFill>
                <a:srgbClr val="000000"/>
              </a:solidFill>
              <a:latin typeface="Arial"/>
              <a:ea typeface="Arial"/>
              <a:cs typeface="Arial"/>
              <a:sym typeface="Arial"/>
            </a:endParaRPr>
          </a:p>
          <a:p>
            <a:pPr marL="889000" marR="0" lvl="1" indent="-285750" algn="l" rtl="0">
              <a:lnSpc>
                <a:spcPct val="115000"/>
              </a:lnSpc>
              <a:spcBef>
                <a:spcPts val="0"/>
              </a:spcBef>
              <a:spcAft>
                <a:spcPts val="0"/>
              </a:spcAft>
              <a:buClr>
                <a:schemeClr val="dk1"/>
              </a:buClr>
              <a:buSzPts val="1300"/>
              <a:buFont typeface="Arial"/>
              <a:buChar char="○"/>
            </a:pPr>
            <a:r>
              <a:rPr lang="en" sz="1300" b="0" i="0" u="none" strike="noStrike" cap="none">
                <a:solidFill>
                  <a:schemeClr val="dk1"/>
                </a:solidFill>
                <a:latin typeface="Arial"/>
                <a:ea typeface="Arial"/>
                <a:cs typeface="Arial"/>
                <a:sym typeface="Arial"/>
              </a:rPr>
              <a:t>We keep a towel, and freshwater aside. </a:t>
            </a:r>
            <a:endParaRPr sz="1400" b="0" i="0" u="none" strike="noStrike" cap="none">
              <a:solidFill>
                <a:srgbClr val="000000"/>
              </a:solidFill>
              <a:latin typeface="Arial"/>
              <a:ea typeface="Arial"/>
              <a:cs typeface="Arial"/>
              <a:sym typeface="Arial"/>
            </a:endParaRPr>
          </a:p>
          <a:p>
            <a:pPr marL="889000" marR="0" lvl="1" indent="-285750" algn="l" rtl="0">
              <a:lnSpc>
                <a:spcPct val="115000"/>
              </a:lnSpc>
              <a:spcBef>
                <a:spcPts val="0"/>
              </a:spcBef>
              <a:spcAft>
                <a:spcPts val="0"/>
              </a:spcAft>
              <a:buClr>
                <a:schemeClr val="dk1"/>
              </a:buClr>
              <a:buSzPts val="1300"/>
              <a:buFont typeface="Arial"/>
              <a:buChar char="○"/>
            </a:pPr>
            <a:r>
              <a:rPr lang="en" sz="1300" b="0" i="0" u="none" strike="noStrike" cap="none">
                <a:solidFill>
                  <a:schemeClr val="dk1"/>
                </a:solidFill>
                <a:latin typeface="Arial"/>
                <a:ea typeface="Arial"/>
                <a:cs typeface="Arial"/>
                <a:sym typeface="Arial"/>
              </a:rPr>
              <a:t>We sit on a chair and give bandhan to ourselves at the beginning of the meditation </a:t>
            </a:r>
            <a:endParaRPr sz="1400" b="0" i="0" u="none" strike="noStrike" cap="none">
              <a:solidFill>
                <a:srgbClr val="000000"/>
              </a:solidFill>
              <a:latin typeface="Arial"/>
              <a:ea typeface="Arial"/>
              <a:cs typeface="Arial"/>
              <a:sym typeface="Arial"/>
            </a:endParaRPr>
          </a:p>
          <a:p>
            <a:pPr marL="889000" marR="0" lvl="1" indent="-285750" algn="l" rtl="0">
              <a:lnSpc>
                <a:spcPct val="115000"/>
              </a:lnSpc>
              <a:spcBef>
                <a:spcPts val="0"/>
              </a:spcBef>
              <a:spcAft>
                <a:spcPts val="0"/>
              </a:spcAft>
              <a:buClr>
                <a:schemeClr val="dk1"/>
              </a:buClr>
              <a:buSzPts val="1300"/>
              <a:buFont typeface="Arial"/>
              <a:buChar char="○"/>
            </a:pPr>
            <a:r>
              <a:rPr lang="en" sz="1300" b="0" i="0" u="none" strike="noStrike" cap="none">
                <a:solidFill>
                  <a:schemeClr val="dk1"/>
                </a:solidFill>
                <a:latin typeface="Arial"/>
                <a:ea typeface="Arial"/>
                <a:cs typeface="Arial"/>
                <a:sym typeface="Arial"/>
              </a:rPr>
              <a:t>We keep our feet in the water tub to cleanse our left, right, and central channels (about 5-10 minutes as shown in image below)</a:t>
            </a:r>
            <a:endParaRPr sz="1400" b="0" i="0" u="none" strike="noStrike" cap="none">
              <a:solidFill>
                <a:srgbClr val="000000"/>
              </a:solidFill>
              <a:latin typeface="Arial"/>
              <a:ea typeface="Arial"/>
              <a:cs typeface="Arial"/>
              <a:sym typeface="Arial"/>
            </a:endParaRPr>
          </a:p>
          <a:p>
            <a:pPr marL="889000" marR="0" lvl="1" indent="-285750" algn="l" rtl="0">
              <a:lnSpc>
                <a:spcPct val="115000"/>
              </a:lnSpc>
              <a:spcBef>
                <a:spcPts val="0"/>
              </a:spcBef>
              <a:spcAft>
                <a:spcPts val="0"/>
              </a:spcAft>
              <a:buClr>
                <a:schemeClr val="dk1"/>
              </a:buClr>
              <a:buSzPts val="1300"/>
              <a:buFont typeface="Arial"/>
              <a:buChar char="○"/>
            </a:pPr>
            <a:r>
              <a:rPr lang="en" sz="1300" b="0" i="0" u="none" strike="noStrike" cap="none">
                <a:solidFill>
                  <a:schemeClr val="dk1"/>
                </a:solidFill>
                <a:latin typeface="Arial"/>
                <a:ea typeface="Arial"/>
                <a:cs typeface="Arial"/>
                <a:sym typeface="Arial"/>
              </a:rPr>
              <a:t>After we are done, we wash our feet with freshwater and wipe with the towel. </a:t>
            </a:r>
            <a:endParaRPr sz="1400" b="0" i="0" u="none" strike="noStrike" cap="none">
              <a:solidFill>
                <a:srgbClr val="000000"/>
              </a:solidFill>
              <a:latin typeface="Arial"/>
              <a:ea typeface="Arial"/>
              <a:cs typeface="Arial"/>
              <a:sym typeface="Arial"/>
            </a:endParaRPr>
          </a:p>
          <a:p>
            <a:pPr marL="889000" marR="0" lvl="1" indent="-285750" algn="l" rtl="0">
              <a:lnSpc>
                <a:spcPct val="115000"/>
              </a:lnSpc>
              <a:spcBef>
                <a:spcPts val="0"/>
              </a:spcBef>
              <a:spcAft>
                <a:spcPts val="0"/>
              </a:spcAft>
              <a:buClr>
                <a:schemeClr val="dk1"/>
              </a:buClr>
              <a:buSzPts val="1300"/>
              <a:buFont typeface="Arial"/>
              <a:buChar char="○"/>
            </a:pPr>
            <a:r>
              <a:rPr lang="en" sz="1300" b="0" i="0" u="none" strike="noStrike" cap="none">
                <a:solidFill>
                  <a:schemeClr val="dk1"/>
                </a:solidFill>
                <a:latin typeface="Arial"/>
                <a:ea typeface="Arial"/>
                <a:cs typeface="Arial"/>
                <a:sym typeface="Arial"/>
              </a:rPr>
              <a:t>We end by giving bandhan to ourself. </a:t>
            </a:r>
            <a:endParaRPr sz="1400" b="0" i="0" u="none" strike="noStrike" cap="none">
              <a:solidFill>
                <a:srgbClr val="000000"/>
              </a:solidFill>
              <a:latin typeface="Arial"/>
              <a:ea typeface="Arial"/>
              <a:cs typeface="Arial"/>
              <a:sym typeface="Arial"/>
            </a:endParaRPr>
          </a:p>
        </p:txBody>
      </p:sp>
      <p:pic>
        <p:nvPicPr>
          <p:cNvPr id="175" name="Google Shape;175;p29"/>
          <p:cNvPicPr preferRelativeResize="0"/>
          <p:nvPr/>
        </p:nvPicPr>
        <p:blipFill rotWithShape="1">
          <a:blip r:embed="rId3">
            <a:alphaModFix/>
          </a:blip>
          <a:srcRect/>
          <a:stretch/>
        </p:blipFill>
        <p:spPr>
          <a:xfrm>
            <a:off x="7928903" y="4208525"/>
            <a:ext cx="1139425" cy="8557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179"/>
        <p:cNvGrpSpPr/>
        <p:nvPr/>
      </p:nvGrpSpPr>
      <p:grpSpPr>
        <a:xfrm>
          <a:off x="0" y="0"/>
          <a:ext cx="0" cy="0"/>
          <a:chOff x="0" y="0"/>
          <a:chExt cx="0" cy="0"/>
        </a:xfrm>
      </p:grpSpPr>
      <p:sp>
        <p:nvSpPr>
          <p:cNvPr id="180" name="Google Shape;180;g1c38a59204387535_0"/>
          <p:cNvSpPr txBox="1">
            <a:spLocks noGrp="1"/>
          </p:cNvSpPr>
          <p:nvPr>
            <p:ph type="ctrTitle"/>
          </p:nvPr>
        </p:nvSpPr>
        <p:spPr>
          <a:xfrm>
            <a:off x="0" y="40192"/>
            <a:ext cx="9144000" cy="1244672"/>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200"/>
              <a:buNone/>
            </a:pPr>
            <a:r>
              <a:rPr lang="en" sz="3200" b="1" i="1" u="sng">
                <a:solidFill>
                  <a:srgbClr val="980000"/>
                </a:solidFill>
              </a:rPr>
              <a:t>Old - There are 10 Adi gurus (primordial Masters). We have to follow them to have dharmic life:</a:t>
            </a:r>
            <a:endParaRPr sz="3200" b="1" i="1" u="sng">
              <a:solidFill>
                <a:srgbClr val="980000"/>
              </a:solidFill>
            </a:endParaRPr>
          </a:p>
        </p:txBody>
      </p:sp>
      <p:sp>
        <p:nvSpPr>
          <p:cNvPr id="181" name="Google Shape;181;g1c38a59204387535_0"/>
          <p:cNvSpPr txBox="1">
            <a:spLocks noGrp="1"/>
          </p:cNvSpPr>
          <p:nvPr>
            <p:ph type="subTitle" idx="1"/>
          </p:nvPr>
        </p:nvSpPr>
        <p:spPr>
          <a:xfrm>
            <a:off x="0" y="1244672"/>
            <a:ext cx="9144000" cy="405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457200" lvl="0" indent="-330200" algn="l" rtl="0">
              <a:lnSpc>
                <a:spcPct val="100000"/>
              </a:lnSpc>
              <a:spcBef>
                <a:spcPts val="0"/>
              </a:spcBef>
              <a:spcAft>
                <a:spcPts val="0"/>
              </a:spcAft>
              <a:buSzPts val="1600"/>
              <a:buChar char="●"/>
            </a:pPr>
            <a:r>
              <a:rPr lang="en" sz="1600">
                <a:solidFill>
                  <a:schemeClr val="dk1"/>
                </a:solidFill>
              </a:rPr>
              <a:t>To see the Adi Gurus’ image, you can go to:</a:t>
            </a:r>
            <a:endParaRPr sz="1600">
              <a:solidFill>
                <a:schemeClr val="dk1"/>
              </a:solidFill>
            </a:endParaRPr>
          </a:p>
          <a:p>
            <a:pPr marL="0" lvl="0" indent="0" algn="l" rtl="0">
              <a:lnSpc>
                <a:spcPct val="100000"/>
              </a:lnSpc>
              <a:spcBef>
                <a:spcPts val="0"/>
              </a:spcBef>
              <a:spcAft>
                <a:spcPts val="0"/>
              </a:spcAft>
              <a:buSzPts val="2800"/>
              <a:buNone/>
            </a:pPr>
            <a:endParaRPr sz="1600">
              <a:solidFill>
                <a:schemeClr val="dk1"/>
              </a:solidFill>
            </a:endParaRPr>
          </a:p>
          <a:p>
            <a:pPr marL="457200" lvl="0" indent="0" algn="l" rtl="0">
              <a:lnSpc>
                <a:spcPct val="100000"/>
              </a:lnSpc>
              <a:spcBef>
                <a:spcPts val="0"/>
              </a:spcBef>
              <a:spcAft>
                <a:spcPts val="0"/>
              </a:spcAft>
              <a:buSzPts val="2800"/>
              <a:buNone/>
            </a:pPr>
            <a:r>
              <a:rPr lang="en" sz="1600">
                <a:solidFill>
                  <a:schemeClr val="dk1"/>
                </a:solidFill>
              </a:rPr>
              <a:t>	</a:t>
            </a:r>
            <a:r>
              <a:rPr lang="en" sz="1600" u="sng">
                <a:solidFill>
                  <a:schemeClr val="hlink"/>
                </a:solidFill>
                <a:hlinkClick r:id="rId3"/>
              </a:rPr>
              <a:t>https://drive.google.com/file/d/1FPS5l3wjXnUhxHYi-mM2fuMwaAuOjxxe/				view?usp=drivesdk</a:t>
            </a:r>
            <a:endParaRPr sz="1600">
              <a:solidFill>
                <a:schemeClr val="dk1"/>
              </a:solidFill>
            </a:endParaRPr>
          </a:p>
          <a:p>
            <a:pPr marL="0" lvl="0" indent="0" algn="l" rtl="0">
              <a:lnSpc>
                <a:spcPct val="100000"/>
              </a:lnSpc>
              <a:spcBef>
                <a:spcPts val="0"/>
              </a:spcBef>
              <a:spcAft>
                <a:spcPts val="0"/>
              </a:spcAft>
              <a:buSzPts val="2800"/>
              <a:buNone/>
            </a:pPr>
            <a:endParaRPr sz="1600">
              <a:solidFill>
                <a:schemeClr val="dk1"/>
              </a:solidFill>
            </a:endParaRPr>
          </a:p>
          <a:p>
            <a:pPr marL="457200" lvl="0" indent="-330200" algn="l" rtl="0">
              <a:lnSpc>
                <a:spcPct val="100000"/>
              </a:lnSpc>
              <a:spcBef>
                <a:spcPts val="0"/>
              </a:spcBef>
              <a:spcAft>
                <a:spcPts val="0"/>
              </a:spcAft>
              <a:buClr>
                <a:schemeClr val="dk1"/>
              </a:buClr>
              <a:buSzPts val="1600"/>
              <a:buChar char="●"/>
            </a:pPr>
            <a:r>
              <a:rPr lang="en" sz="1600">
                <a:solidFill>
                  <a:schemeClr val="dk1"/>
                </a:solidFill>
              </a:rPr>
              <a:t>To the Adi Gurus' stories, coloring, etc, you can go to:</a:t>
            </a:r>
            <a:endParaRPr sz="1600">
              <a:solidFill>
                <a:schemeClr val="dk1"/>
              </a:solidFill>
            </a:endParaRPr>
          </a:p>
          <a:p>
            <a:pPr marL="0" lvl="0" indent="0" algn="l" rtl="0">
              <a:lnSpc>
                <a:spcPct val="100000"/>
              </a:lnSpc>
              <a:spcBef>
                <a:spcPts val="0"/>
              </a:spcBef>
              <a:spcAft>
                <a:spcPts val="0"/>
              </a:spcAft>
              <a:buSzPts val="2800"/>
              <a:buNone/>
            </a:pPr>
            <a:endParaRPr sz="1600">
              <a:solidFill>
                <a:schemeClr val="dk1"/>
              </a:solidFill>
            </a:endParaRPr>
          </a:p>
          <a:p>
            <a:pPr marL="457200" lvl="0" indent="0" algn="l" rtl="0">
              <a:lnSpc>
                <a:spcPct val="100000"/>
              </a:lnSpc>
              <a:spcBef>
                <a:spcPts val="0"/>
              </a:spcBef>
              <a:spcAft>
                <a:spcPts val="0"/>
              </a:spcAft>
              <a:buSzPts val="2800"/>
              <a:buNone/>
            </a:pPr>
            <a:r>
              <a:rPr lang="en" sz="1600">
                <a:solidFill>
                  <a:schemeClr val="dk1"/>
                </a:solidFill>
              </a:rPr>
              <a:t>	</a:t>
            </a:r>
            <a:r>
              <a:rPr lang="en" sz="1600" u="sng">
                <a:solidFill>
                  <a:schemeClr val="hlink"/>
                </a:solidFill>
                <a:hlinkClick r:id="rId4"/>
              </a:rPr>
              <a:t>https://drive.google.com/file/d/1hWysase1rEzrdwm5OVxhL8Svd1VOIO5W/				view?usp=drivesdk</a:t>
            </a:r>
            <a:endParaRPr sz="160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8C5A5A"/>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2029</Words>
  <Application>Microsoft Office PowerPoint</Application>
  <PresentationFormat>On-screen Show (16:9)</PresentationFormat>
  <Paragraphs>153</Paragraphs>
  <Slides>18</Slides>
  <Notes>18</Notes>
  <HiddenSlides>5</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Simple Light</vt:lpstr>
      <vt:lpstr>Introduction to Sahaja Yoga</vt:lpstr>
      <vt:lpstr>What is Sahaja Yoga?</vt:lpstr>
      <vt:lpstr>Chakras and Channels </vt:lpstr>
      <vt:lpstr>Chakras and Channels </vt:lpstr>
      <vt:lpstr>Self-Realization </vt:lpstr>
      <vt:lpstr>Benefits </vt:lpstr>
      <vt:lpstr>Experience Self-Realization by Shri Mataji</vt:lpstr>
      <vt:lpstr>Daily meditation </vt:lpstr>
      <vt:lpstr>Bandhan</vt:lpstr>
      <vt:lpstr>Foot-Soaking</vt:lpstr>
      <vt:lpstr>Primordial Masters</vt:lpstr>
      <vt:lpstr>Collective  meditation &amp; References</vt:lpstr>
      <vt:lpstr>Thank you!</vt:lpstr>
      <vt:lpstr>Old-Experience Self-Realization by Shri Mataji</vt:lpstr>
      <vt:lpstr>Old - Chakras, Channels &amp; Self-Realization  </vt:lpstr>
      <vt:lpstr>Old - Chakras and Channels </vt:lpstr>
      <vt:lpstr>Old - Bandhan (uppy uppy), and foot-soaking:</vt:lpstr>
      <vt:lpstr>Old - There are 10 Adi gurus (primordial Masters). We have to follow them to have dharmic life: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Krishna Pusuluri</cp:lastModifiedBy>
  <cp:revision>32</cp:revision>
  <dcterms:modified xsi:type="dcterms:W3CDTF">2025-11-19T17:58:50Z</dcterms:modified>
</cp:coreProperties>
</file>